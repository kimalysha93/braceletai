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Fredoka"/>
      <p:regular r:id="rId13"/>
      <p:bold r:id="rId14"/>
    </p:embeddedFont>
    <p:embeddedFont>
      <p:font typeface="Nunito" pitchFamily="2" charset="77"/>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9iskSwxpyMqIkheHea82G3AQfn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5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2D4F14-6840-463C-8D20-70412F0C52B0}">
  <a:tblStyle styleId="{862D4F14-6840-463C-8D20-70412F0C52B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06"/>
  </p:normalViewPr>
  <p:slideViewPr>
    <p:cSldViewPr snapToGrid="0">
      <p:cViewPr varScale="1">
        <p:scale>
          <a:sx n="119" d="100"/>
          <a:sy n="119" d="100"/>
        </p:scale>
        <p:origin x="8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Space on the right is left for your bracelet photo.</a:t>
            </a: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Space on the right is left for your bracelet photo and a BraceletBook screenshot.</a:t>
            </a:r>
            <a:br>
              <a:rPr lang="en-US"/>
            </a:br>
            <a:r>
              <a:rPr lang="en-US"/>
              <a:t>Points: overly long strings waste thread and make knotting slower; running short means weaving in new thread; designing from scratch is trial and error; current tools make it hard to see what the finished bracelet will look like.</a:t>
            </a:r>
            <a:endParaRPr/>
          </a:p>
        </p:txBody>
      </p:sp>
      <p:sp>
        <p:nvSpPr>
          <p:cNvPr id="24" name="Google Shape;2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 name="Google Shape;3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BraceletBook: about 791,785 users and about 1.3M visits a month (Similarweb, Aug 2025), roughly 218,000 patterns. r/friendshipbracelets: about 30,154 members. Friendship bracelets surged in 2023, linked to Taylor Swift. Benchmark: Ravelry (knitting) had about 1M monthly active users in 2020.</a:t>
            </a:r>
            <a:endParaRPr/>
          </a:p>
        </p:txBody>
      </p:sp>
      <p:sp>
        <p:nvSpPr>
          <p:cNvPr id="39" name="Google Shape;3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AI starting patterns from a description, a pixel-art editor where you paint knots, automatic string lengths, and a library where you can share patterns and remix others with credit.</a:t>
            </a:r>
            <a:endParaRPr/>
          </a:p>
        </p:txBody>
      </p:sp>
      <p:sp>
        <p:nvSpPr>
          <p:cNvPr id="55" name="Google Shape;5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Transition to the live demo here.</a:t>
            </a:r>
            <a:br>
              <a:rPr lang="en-US"/>
            </a:br>
            <a:r>
              <a:rPr lang="en-US"/>
              <a:t>The AI (a free local model) turns the description into a short recipe (text, motifs, colours, width). Normal code builds the grid from that recipe, so results are reliable. Show the "Show AI recipe" toggle during the demo.</a:t>
            </a:r>
            <a:endParaRPr/>
          </a:p>
        </p:txBody>
      </p:sp>
      <p:sp>
        <p:nvSpPr>
          <p:cNvPr id="70" name="Google Shape;7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Free tier: editor, calculator, sharing, and a few AI generations a month, supported by ads. Premium: $2.99/month or $19.99/year for unlimited AI, photo-to-pattern, no ads, printable patterns. Not $1/month because card fees would take about a third of it. Affiliate: the string calculator already produces a shopping list. 13+ only, no private messaging, moderated comments.</a:t>
            </a:r>
            <a:endParaRPr/>
          </a:p>
        </p:txBody>
      </p:sp>
      <p:sp>
        <p:nvSpPr>
          <p:cNvPr id="92" name="Google Shape;9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Phase 1: release the calculator alone, post in bracelet subreddits, target searches like "how much string for a friendship bracelet" (about 39% of BraceletBook traffic comes from search). Phase 2: micro-creators get free premium, a creator page, and a referral code; they design on camera. Phase 3: monthly challenges, every shared pattern links back to us, thread brands, craft stores, summer camps.</a:t>
            </a:r>
            <a:endParaRPr/>
          </a:p>
        </p:txBody>
      </p:sp>
      <p:sp>
        <p:nvSpPr>
          <p:cNvPr id="108" name="Google Shape;10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Keep the library size row: BraceletBook clearly wins there, and our answer is seeding the library with creators. Verify the "?" cell before presenting. Our edge is AI generation plus beginner focus, since features alone are easy to copy.</a:t>
            </a:r>
            <a:endParaRPr/>
          </a:p>
        </p:txBody>
      </p:sp>
      <p:sp>
        <p:nvSpPr>
          <p:cNvPr id="125" name="Google Shape;12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h2ec1715e373c5062_2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h2ec1715e373c5062_2_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Assumptions: 12 pages per user per month, $4 ad revenue per 1,000 page views, 2% of users convert to premium at $2.99/month with about 85% kept after fees.</a:t>
            </a:r>
            <a:br>
              <a:rPr lang="en-US"/>
            </a:br>
            <a:r>
              <a:rPr lang="en-US"/>
              <a:t>Users: 5,000 in Year 1, 20,000 in Year 2, 50,000 in Year 3.</a:t>
            </a:r>
            <a:br>
              <a:rPr lang="en-US"/>
            </a:br>
            <a:r>
              <a:rPr lang="en-US"/>
              <a:t>Year 1 users: 10 micro-creators x 20,000 followers x 2% sign-up = 4,000, plus about 1,000 from Reddit, search, and word of mouth.</a:t>
            </a:r>
            <a:br>
              <a:rPr lang="en-US"/>
            </a:br>
            <a:r>
              <a:rPr lang="en-US"/>
              <a:t>Marketing: $3,000 in Year 1 pays about 10 creators. Year 2 rises to $4,500 to keep growth going. Year 3 drops back to $3,000 because most new users come for free through search, shared pattern links, and word of mouth.</a:t>
            </a:r>
            <a:br>
              <a:rPr lang="en-US"/>
            </a:br>
            <a:r>
              <a:rPr lang="en-US"/>
              <a:t>If asked about Years 4 and 5 (with marketing kept at $3,000): profit of $89,336 and $141,634. Founder salaries are not included.</a:t>
            </a:r>
            <a:endParaRPr/>
          </a:p>
        </p:txBody>
      </p:sp>
      <p:sp>
        <p:nvSpPr>
          <p:cNvPr id="132" name="Google Shape;132;h2ec1715e373c5062_2_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Mobile apps follow in months 9 to 12. Tie the ask to milestones: development time, creator marketing, and moderation. Example: "This gets us to 20,000 users by the end of Year 2."</a:t>
            </a:r>
            <a:endParaRPr/>
          </a:p>
        </p:txBody>
      </p:sp>
      <p:sp>
        <p:nvSpPr>
          <p:cNvPr id="139" name="Google Shape;13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kimalysha93.github.io/BraceletAI/"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Shape 15"/>
        <p:cNvGrpSpPr/>
        <p:nvPr/>
      </p:nvGrpSpPr>
      <p:grpSpPr>
        <a:xfrm>
          <a:off x="0" y="0"/>
          <a:ext cx="0" cy="0"/>
          <a:chOff x="0" y="0"/>
          <a:chExt cx="0" cy="0"/>
        </a:xfrm>
      </p:grpSpPr>
      <p:sp>
        <p:nvSpPr>
          <p:cNvPr id="16" name="Google Shape;16;p1"/>
          <p:cNvSpPr txBox="1"/>
          <p:nvPr/>
        </p:nvSpPr>
        <p:spPr>
          <a:xfrm>
            <a:off x="640080" y="2011680"/>
            <a:ext cx="6035040" cy="18288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rgbClr val="EC5F99"/>
              </a:buClr>
              <a:buSzPts val="6600"/>
              <a:buFont typeface="Fredoka"/>
              <a:buNone/>
            </a:pPr>
            <a:r>
              <a:rPr lang="en-US" sz="6600" b="1" i="0" u="none" strike="noStrike" cap="none">
                <a:solidFill>
                  <a:srgbClr val="EC5F99"/>
                </a:solidFill>
                <a:latin typeface="Fredoka"/>
                <a:ea typeface="Fredoka"/>
                <a:cs typeface="Fredoka"/>
                <a:sym typeface="Fredoka"/>
              </a:rPr>
              <a:t>AI Bracelet Builder</a:t>
            </a:r>
            <a:endParaRPr sz="6600" b="0" i="0" u="none" strike="noStrike" cap="none">
              <a:solidFill>
                <a:schemeClr val="dk1"/>
              </a:solidFill>
              <a:latin typeface="Calibri"/>
              <a:ea typeface="Calibri"/>
              <a:cs typeface="Calibri"/>
              <a:sym typeface="Calibri"/>
            </a:endParaRPr>
          </a:p>
        </p:txBody>
      </p:sp>
      <p:sp>
        <p:nvSpPr>
          <p:cNvPr id="17" name="Google Shape;17;p1"/>
          <p:cNvSpPr txBox="1"/>
          <p:nvPr/>
        </p:nvSpPr>
        <p:spPr>
          <a:xfrm>
            <a:off x="640080" y="3977640"/>
            <a:ext cx="60350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B2F3A"/>
              </a:buClr>
              <a:buSzPts val="3200"/>
              <a:buFont typeface="Nunito"/>
              <a:buNone/>
            </a:pPr>
            <a:r>
              <a:rPr lang="en-US" sz="3200" b="0" i="0" u="none" strike="noStrike" cap="none">
                <a:solidFill>
                  <a:srgbClr val="3B2F3A"/>
                </a:solidFill>
                <a:latin typeface="Nunito"/>
                <a:ea typeface="Nunito"/>
                <a:cs typeface="Nunito"/>
                <a:sym typeface="Nunito"/>
              </a:rPr>
              <a:t>Describe it, we’ll knot it</a:t>
            </a:r>
            <a:endParaRPr sz="3200" b="0" i="0" u="none" strike="noStrike" cap="none">
              <a:solidFill>
                <a:schemeClr val="dk1"/>
              </a:solidFill>
              <a:latin typeface="Calibri"/>
              <a:ea typeface="Calibri"/>
              <a:cs typeface="Calibri"/>
              <a:sym typeface="Calibri"/>
            </a:endParaRPr>
          </a:p>
        </p:txBody>
      </p:sp>
      <p:pic>
        <p:nvPicPr>
          <p:cNvPr id="18" name="Google Shape;18;p1"/>
          <p:cNvPicPr preferRelativeResize="0"/>
          <p:nvPr/>
        </p:nvPicPr>
        <p:blipFill>
          <a:blip r:embed="rId3">
            <a:alphaModFix/>
          </a:blip>
          <a:stretch>
            <a:fillRect/>
          </a:stretch>
        </p:blipFill>
        <p:spPr>
          <a:xfrm>
            <a:off x="8132625" y="665312"/>
            <a:ext cx="3424025" cy="6097225"/>
          </a:xfrm>
          <a:prstGeom prst="rect">
            <a:avLst/>
          </a:prstGeom>
          <a:noFill/>
          <a:ln w="38100" cap="flat" cmpd="sng">
            <a:solidFill>
              <a:srgbClr val="EC5F99"/>
            </a:solidFill>
            <a:prstDash val="solid"/>
            <a:round/>
            <a:headEnd type="none" w="sm" len="sm"/>
            <a:tailEnd type="none" w="sm" len="sm"/>
          </a:ln>
        </p:spPr>
      </p:pic>
      <p:pic>
        <p:nvPicPr>
          <p:cNvPr id="19" name="Google Shape;19;p1"/>
          <p:cNvPicPr preferRelativeResize="0"/>
          <p:nvPr/>
        </p:nvPicPr>
        <p:blipFill>
          <a:blip r:embed="rId4">
            <a:alphaModFix/>
          </a:blip>
          <a:stretch>
            <a:fillRect/>
          </a:stretch>
        </p:blipFill>
        <p:spPr>
          <a:xfrm>
            <a:off x="6308300" y="327288"/>
            <a:ext cx="2247900" cy="3000375"/>
          </a:xfrm>
          <a:prstGeom prst="rect">
            <a:avLst/>
          </a:prstGeom>
          <a:noFill/>
          <a:ln w="38100" cap="flat" cmpd="sng">
            <a:solidFill>
              <a:srgbClr val="EC5F99"/>
            </a:solidFill>
            <a:prstDash val="solid"/>
            <a:round/>
            <a:headEnd type="none" w="sm" len="sm"/>
            <a:tailEnd type="none" w="sm" len="sm"/>
          </a:ln>
        </p:spPr>
      </p:pic>
      <p:sp>
        <p:nvSpPr>
          <p:cNvPr id="20" name="Google Shape;20;p1"/>
          <p:cNvSpPr txBox="1"/>
          <p:nvPr/>
        </p:nvSpPr>
        <p:spPr>
          <a:xfrm>
            <a:off x="71550" y="6213825"/>
            <a:ext cx="79209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100">
                <a:solidFill>
                  <a:srgbClr val="8A7A86"/>
                </a:solidFill>
                <a:latin typeface="Nunito"/>
                <a:ea typeface="Nunito"/>
                <a:cs typeface="Nunito"/>
                <a:sym typeface="Nunito"/>
              </a:rPr>
              <a:t>Image Sources:</a:t>
            </a:r>
            <a:endParaRPr sz="1100">
              <a:solidFill>
                <a:srgbClr val="8A7A86"/>
              </a:solidFill>
              <a:latin typeface="Nunito"/>
              <a:ea typeface="Nunito"/>
              <a:cs typeface="Nunito"/>
              <a:sym typeface="Nunito"/>
            </a:endParaRPr>
          </a:p>
          <a:p>
            <a:pPr marL="0" lvl="0" indent="0" algn="l" rtl="0">
              <a:spcBef>
                <a:spcPts val="0"/>
              </a:spcBef>
              <a:spcAft>
                <a:spcPts val="0"/>
              </a:spcAft>
              <a:buNone/>
            </a:pPr>
            <a:r>
              <a:rPr lang="en-US" sz="1100">
                <a:solidFill>
                  <a:srgbClr val="8A7A86"/>
                </a:solidFill>
                <a:latin typeface="Nunito"/>
                <a:ea typeface="Nunito"/>
                <a:cs typeface="Nunito"/>
                <a:sym typeface="Nunito"/>
              </a:rPr>
              <a:t>https://pin.it/740S3Xd9l</a:t>
            </a:r>
            <a:endParaRPr sz="1100">
              <a:solidFill>
                <a:srgbClr val="8A7A86"/>
              </a:solidFill>
              <a:latin typeface="Nunito"/>
              <a:ea typeface="Nunito"/>
              <a:cs typeface="Nunito"/>
              <a:sym typeface="Nunito"/>
            </a:endParaRPr>
          </a:p>
          <a:p>
            <a:pPr marL="0" lvl="0" indent="0" algn="l" rtl="0">
              <a:spcBef>
                <a:spcPts val="0"/>
              </a:spcBef>
              <a:spcAft>
                <a:spcPts val="0"/>
              </a:spcAft>
              <a:buNone/>
            </a:pPr>
            <a:r>
              <a:rPr lang="en-US" sz="1100">
                <a:solidFill>
                  <a:srgbClr val="8A7A86"/>
                </a:solidFill>
                <a:latin typeface="Nunito"/>
                <a:ea typeface="Nunito"/>
                <a:cs typeface="Nunito"/>
                <a:sym typeface="Nunito"/>
              </a:rPr>
              <a:t>https://www.tiktok.com/@madebyeleanorr_/video/7271335455419845921?is_from_webapp=1&amp;sender_device=pc</a:t>
            </a:r>
            <a:endParaRPr sz="1100">
              <a:solidFill>
                <a:srgbClr val="8A7A86"/>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Shape 25"/>
        <p:cNvGrpSpPr/>
        <p:nvPr/>
      </p:nvGrpSpPr>
      <p:grpSpPr>
        <a:xfrm>
          <a:off x="0" y="0"/>
          <a:ext cx="0" cy="0"/>
          <a:chOff x="0" y="0"/>
          <a:chExt cx="0" cy="0"/>
        </a:xfrm>
      </p:grpSpPr>
      <p:sp>
        <p:nvSpPr>
          <p:cNvPr id="26" name="Google Shape;26;p2"/>
          <p:cNvSpPr txBox="1"/>
          <p:nvPr/>
        </p:nvSpPr>
        <p:spPr>
          <a:xfrm>
            <a:off x="640080" y="457200"/>
            <a:ext cx="108813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3D7A"/>
              </a:buClr>
              <a:buSzPts val="4400"/>
              <a:buFont typeface="Fredoka"/>
              <a:buNone/>
            </a:pPr>
            <a:r>
              <a:rPr lang="en-US" sz="4400" b="1" i="0" u="none" strike="noStrike" cap="none">
                <a:solidFill>
                  <a:srgbClr val="C93D7A"/>
                </a:solidFill>
                <a:latin typeface="Fredoka"/>
                <a:ea typeface="Fredoka"/>
                <a:cs typeface="Fredoka"/>
                <a:sym typeface="Fredoka"/>
              </a:rPr>
              <a:t>The </a:t>
            </a:r>
            <a:r>
              <a:rPr lang="en-US" sz="4400" b="1">
                <a:solidFill>
                  <a:srgbClr val="C93D7A"/>
                </a:solidFill>
                <a:latin typeface="Fredoka"/>
                <a:ea typeface="Fredoka"/>
                <a:cs typeface="Fredoka"/>
                <a:sym typeface="Fredoka"/>
              </a:rPr>
              <a:t>p</a:t>
            </a:r>
            <a:r>
              <a:rPr lang="en-US" sz="4400" b="1" i="0" u="none" strike="noStrike" cap="none">
                <a:solidFill>
                  <a:srgbClr val="C93D7A"/>
                </a:solidFill>
                <a:latin typeface="Fredoka"/>
                <a:ea typeface="Fredoka"/>
                <a:cs typeface="Fredoka"/>
                <a:sym typeface="Fredoka"/>
              </a:rPr>
              <a:t>roblem</a:t>
            </a:r>
            <a:endParaRPr sz="4400" b="0" i="0" u="none" strike="noStrike" cap="none">
              <a:solidFill>
                <a:schemeClr val="dk1"/>
              </a:solidFill>
              <a:latin typeface="Calibri"/>
              <a:ea typeface="Calibri"/>
              <a:cs typeface="Calibri"/>
              <a:sym typeface="Calibri"/>
            </a:endParaRPr>
          </a:p>
        </p:txBody>
      </p:sp>
      <p:sp>
        <p:nvSpPr>
          <p:cNvPr id="27" name="Google Shape;27;p2"/>
          <p:cNvSpPr/>
          <p:nvPr/>
        </p:nvSpPr>
        <p:spPr>
          <a:xfrm>
            <a:off x="640080" y="1938528"/>
            <a:ext cx="274320" cy="274320"/>
          </a:xfrm>
          <a:prstGeom prst="ellipse">
            <a:avLst/>
          </a:prstGeom>
          <a:solidFill>
            <a:srgbClr val="EC5F99"/>
          </a:solidFill>
          <a:ln w="12700" cap="flat" cmpd="sng">
            <a:solidFill>
              <a:srgbClr val="EC5F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txBox="1"/>
          <p:nvPr/>
        </p:nvSpPr>
        <p:spPr>
          <a:xfrm>
            <a:off x="1143000" y="1828800"/>
            <a:ext cx="530352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Strings cut too long or too short</a:t>
            </a:r>
            <a:endParaRPr sz="3000" b="0" i="0" u="none" strike="noStrike" cap="none">
              <a:solidFill>
                <a:schemeClr val="dk1"/>
              </a:solidFill>
              <a:latin typeface="Calibri"/>
              <a:ea typeface="Calibri"/>
              <a:cs typeface="Calibri"/>
              <a:sym typeface="Calibri"/>
            </a:endParaRPr>
          </a:p>
        </p:txBody>
      </p:sp>
      <p:sp>
        <p:nvSpPr>
          <p:cNvPr id="29" name="Google Shape;29;p2"/>
          <p:cNvSpPr/>
          <p:nvPr/>
        </p:nvSpPr>
        <p:spPr>
          <a:xfrm>
            <a:off x="640080" y="3264408"/>
            <a:ext cx="274320" cy="274320"/>
          </a:xfrm>
          <a:prstGeom prst="ellipse">
            <a:avLst/>
          </a:prstGeom>
          <a:solidFill>
            <a:srgbClr val="EC5F99"/>
          </a:solidFill>
          <a:ln w="12700" cap="flat" cmpd="sng">
            <a:solidFill>
              <a:srgbClr val="EC5F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txBox="1"/>
          <p:nvPr/>
        </p:nvSpPr>
        <p:spPr>
          <a:xfrm>
            <a:off x="1143000" y="3154680"/>
            <a:ext cx="530352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Designing from scratch is trial and error</a:t>
            </a:r>
            <a:endParaRPr sz="3000" b="0" i="0" u="none" strike="noStrike" cap="none">
              <a:solidFill>
                <a:schemeClr val="dk1"/>
              </a:solidFill>
              <a:latin typeface="Calibri"/>
              <a:ea typeface="Calibri"/>
              <a:cs typeface="Calibri"/>
              <a:sym typeface="Calibri"/>
            </a:endParaRPr>
          </a:p>
        </p:txBody>
      </p:sp>
      <p:sp>
        <p:nvSpPr>
          <p:cNvPr id="31" name="Google Shape;31;p2"/>
          <p:cNvSpPr/>
          <p:nvPr/>
        </p:nvSpPr>
        <p:spPr>
          <a:xfrm>
            <a:off x="640080" y="4590288"/>
            <a:ext cx="274320" cy="274320"/>
          </a:xfrm>
          <a:prstGeom prst="ellipse">
            <a:avLst/>
          </a:prstGeom>
          <a:solidFill>
            <a:srgbClr val="EC5F99"/>
          </a:solidFill>
          <a:ln w="12700" cap="flat" cmpd="sng">
            <a:solidFill>
              <a:srgbClr val="EC5F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txBox="1"/>
          <p:nvPr/>
        </p:nvSpPr>
        <p:spPr>
          <a:xfrm>
            <a:off x="1143000" y="4480560"/>
            <a:ext cx="530352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Pattern tools are confusing</a:t>
            </a:r>
            <a:endParaRPr sz="3000" b="0" i="0" u="none" strike="noStrike" cap="none">
              <a:solidFill>
                <a:schemeClr val="dk1"/>
              </a:solidFill>
              <a:latin typeface="Calibri"/>
              <a:ea typeface="Calibri"/>
              <a:cs typeface="Calibri"/>
              <a:sym typeface="Calibri"/>
            </a:endParaRPr>
          </a:p>
        </p:txBody>
      </p:sp>
      <p:pic>
        <p:nvPicPr>
          <p:cNvPr id="33" name="Google Shape;33;p2" title="Screenshot 2026-10-04 at 1.00.59 PM.png"/>
          <p:cNvPicPr preferRelativeResize="0"/>
          <p:nvPr/>
        </p:nvPicPr>
        <p:blipFill>
          <a:blip r:embed="rId3">
            <a:alphaModFix/>
          </a:blip>
          <a:stretch>
            <a:fillRect/>
          </a:stretch>
        </p:blipFill>
        <p:spPr>
          <a:xfrm>
            <a:off x="8301775" y="4033325"/>
            <a:ext cx="3636275" cy="2619976"/>
          </a:xfrm>
          <a:prstGeom prst="rect">
            <a:avLst/>
          </a:prstGeom>
          <a:noFill/>
          <a:ln w="38100" cap="flat" cmpd="sng">
            <a:solidFill>
              <a:srgbClr val="C93D7A"/>
            </a:solidFill>
            <a:prstDash val="solid"/>
            <a:round/>
            <a:headEnd type="none" w="sm" len="sm"/>
            <a:tailEnd type="none" w="sm" len="sm"/>
          </a:ln>
        </p:spPr>
      </p:pic>
      <p:pic>
        <p:nvPicPr>
          <p:cNvPr id="34" name="Google Shape;34;p2" title="Screenshot 2026-10-04 at 1.02.33 PM.png"/>
          <p:cNvPicPr preferRelativeResize="0"/>
          <p:nvPr/>
        </p:nvPicPr>
        <p:blipFill>
          <a:blip r:embed="rId4">
            <a:alphaModFix/>
          </a:blip>
          <a:stretch>
            <a:fillRect/>
          </a:stretch>
        </p:blipFill>
        <p:spPr>
          <a:xfrm>
            <a:off x="8337902" y="387484"/>
            <a:ext cx="3564026" cy="3485999"/>
          </a:xfrm>
          <a:prstGeom prst="rect">
            <a:avLst/>
          </a:prstGeom>
          <a:noFill/>
          <a:ln w="38100" cap="flat" cmpd="sng">
            <a:solidFill>
              <a:srgbClr val="C93D7A"/>
            </a:solidFill>
            <a:prstDash val="solid"/>
            <a:round/>
            <a:headEnd type="none" w="sm" len="sm"/>
            <a:tailEnd type="none" w="sm" len="sm"/>
          </a:ln>
        </p:spPr>
      </p:pic>
      <p:sp>
        <p:nvSpPr>
          <p:cNvPr id="35" name="Google Shape;35;p2"/>
          <p:cNvSpPr txBox="1"/>
          <p:nvPr/>
        </p:nvSpPr>
        <p:spPr>
          <a:xfrm>
            <a:off x="71550" y="6440300"/>
            <a:ext cx="5355600" cy="37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solidFill>
                  <a:srgbClr val="8A7A86"/>
                </a:solidFill>
                <a:latin typeface="Nunito"/>
                <a:ea typeface="Nunito"/>
                <a:cs typeface="Nunito"/>
                <a:sym typeface="Nunito"/>
              </a:rPr>
              <a:t>Image Source: https://www.braceletbook.com/</a:t>
            </a:r>
            <a:endParaRPr sz="1200">
              <a:solidFill>
                <a:srgbClr val="8A7A86"/>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Shape 40"/>
        <p:cNvGrpSpPr/>
        <p:nvPr/>
      </p:nvGrpSpPr>
      <p:grpSpPr>
        <a:xfrm>
          <a:off x="0" y="0"/>
          <a:ext cx="0" cy="0"/>
          <a:chOff x="0" y="0"/>
          <a:chExt cx="0" cy="0"/>
        </a:xfrm>
      </p:grpSpPr>
      <p:sp>
        <p:nvSpPr>
          <p:cNvPr id="41" name="Google Shape;41;p3"/>
          <p:cNvSpPr txBox="1"/>
          <p:nvPr/>
        </p:nvSpPr>
        <p:spPr>
          <a:xfrm>
            <a:off x="640080" y="457200"/>
            <a:ext cx="108813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3D7A"/>
              </a:buClr>
              <a:buSzPts val="4400"/>
              <a:buFont typeface="Fredoka"/>
              <a:buNone/>
            </a:pPr>
            <a:r>
              <a:rPr lang="en-US" sz="4400" b="1" i="0" u="none" strike="noStrike" cap="none">
                <a:solidFill>
                  <a:srgbClr val="C93D7A"/>
                </a:solidFill>
                <a:latin typeface="Fredoka"/>
                <a:ea typeface="Fredoka"/>
                <a:cs typeface="Fredoka"/>
                <a:sym typeface="Fredoka"/>
              </a:rPr>
              <a:t>The </a:t>
            </a:r>
            <a:r>
              <a:rPr lang="en-US" sz="4400" b="1">
                <a:solidFill>
                  <a:srgbClr val="C93D7A"/>
                </a:solidFill>
                <a:latin typeface="Fredoka"/>
                <a:ea typeface="Fredoka"/>
                <a:cs typeface="Fredoka"/>
                <a:sym typeface="Fredoka"/>
              </a:rPr>
              <a:t>o</a:t>
            </a:r>
            <a:r>
              <a:rPr lang="en-US" sz="4400" b="1" i="0" u="none" strike="noStrike" cap="none">
                <a:solidFill>
                  <a:srgbClr val="C93D7A"/>
                </a:solidFill>
                <a:latin typeface="Fredoka"/>
                <a:ea typeface="Fredoka"/>
                <a:cs typeface="Fredoka"/>
                <a:sym typeface="Fredoka"/>
              </a:rPr>
              <a:t>pportunity</a:t>
            </a:r>
            <a:endParaRPr sz="4400" b="0" i="0" u="none" strike="noStrike" cap="none">
              <a:solidFill>
                <a:schemeClr val="dk1"/>
              </a:solidFill>
              <a:latin typeface="Calibri"/>
              <a:ea typeface="Calibri"/>
              <a:cs typeface="Calibri"/>
              <a:sym typeface="Calibri"/>
            </a:endParaRPr>
          </a:p>
        </p:txBody>
      </p:sp>
      <p:sp>
        <p:nvSpPr>
          <p:cNvPr id="42" name="Google Shape;42;p3"/>
          <p:cNvSpPr/>
          <p:nvPr/>
        </p:nvSpPr>
        <p:spPr>
          <a:xfrm>
            <a:off x="640080" y="1645920"/>
            <a:ext cx="3429000" cy="3108960"/>
          </a:xfrm>
          <a:prstGeom prst="roundRect">
            <a:avLst>
              <a:gd name="adj" fmla="val 7353"/>
            </a:avLst>
          </a:prstGeom>
          <a:solidFill>
            <a:srgbClr val="FFE6F0"/>
          </a:solidFill>
          <a:ln w="12700" cap="flat" cmpd="sng">
            <a:solidFill>
              <a:srgbClr val="FFE6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txBox="1"/>
          <p:nvPr/>
        </p:nvSpPr>
        <p:spPr>
          <a:xfrm>
            <a:off x="640080" y="1874520"/>
            <a:ext cx="342900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6600"/>
              <a:buFont typeface="Fredoka"/>
              <a:buNone/>
            </a:pPr>
            <a:r>
              <a:rPr lang="en-US" sz="6600" b="1" i="0" u="none" strike="noStrike" cap="none">
                <a:solidFill>
                  <a:srgbClr val="C93D7A"/>
                </a:solidFill>
                <a:latin typeface="Fredoka"/>
                <a:ea typeface="Fredoka"/>
                <a:cs typeface="Fredoka"/>
                <a:sym typeface="Fredoka"/>
              </a:rPr>
              <a:t>1.3M</a:t>
            </a:r>
            <a:endParaRPr sz="6600" b="0" i="0" u="none" strike="noStrike" cap="none">
              <a:solidFill>
                <a:schemeClr val="dk1"/>
              </a:solidFill>
              <a:latin typeface="Calibri"/>
              <a:ea typeface="Calibri"/>
              <a:cs typeface="Calibri"/>
              <a:sym typeface="Calibri"/>
            </a:endParaRPr>
          </a:p>
        </p:txBody>
      </p:sp>
      <p:sp>
        <p:nvSpPr>
          <p:cNvPr id="44" name="Google Shape;44;p3"/>
          <p:cNvSpPr txBox="1"/>
          <p:nvPr/>
        </p:nvSpPr>
        <p:spPr>
          <a:xfrm>
            <a:off x="914400" y="3017520"/>
            <a:ext cx="2880360" cy="15544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monthly visits to BraceletBook</a:t>
            </a:r>
            <a:endParaRPr sz="3000" b="0" i="0" u="none" strike="noStrike" cap="none">
              <a:solidFill>
                <a:schemeClr val="dk1"/>
              </a:solidFill>
              <a:latin typeface="Calibri"/>
              <a:ea typeface="Calibri"/>
              <a:cs typeface="Calibri"/>
              <a:sym typeface="Calibri"/>
            </a:endParaRPr>
          </a:p>
        </p:txBody>
      </p:sp>
      <p:sp>
        <p:nvSpPr>
          <p:cNvPr id="45" name="Google Shape;45;p3"/>
          <p:cNvSpPr/>
          <p:nvPr/>
        </p:nvSpPr>
        <p:spPr>
          <a:xfrm>
            <a:off x="4343400" y="1645920"/>
            <a:ext cx="3429000" cy="3108960"/>
          </a:xfrm>
          <a:prstGeom prst="roundRect">
            <a:avLst>
              <a:gd name="adj" fmla="val 7353"/>
            </a:avLst>
          </a:prstGeom>
          <a:solidFill>
            <a:srgbClr val="FFF3C9"/>
          </a:solidFill>
          <a:ln w="12700" cap="flat" cmpd="sng">
            <a:solidFill>
              <a:srgbClr val="FFF3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txBox="1"/>
          <p:nvPr/>
        </p:nvSpPr>
        <p:spPr>
          <a:xfrm>
            <a:off x="4343400" y="1874520"/>
            <a:ext cx="342900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6600"/>
              <a:buFont typeface="Fredoka"/>
              <a:buNone/>
            </a:pPr>
            <a:r>
              <a:rPr lang="en-US" sz="6600" b="1" i="0" u="none" strike="noStrike" cap="none">
                <a:solidFill>
                  <a:srgbClr val="C93D7A"/>
                </a:solidFill>
                <a:latin typeface="Fredoka"/>
                <a:ea typeface="Fredoka"/>
                <a:cs typeface="Fredoka"/>
                <a:sym typeface="Fredoka"/>
              </a:rPr>
              <a:t>790K</a:t>
            </a:r>
            <a:endParaRPr sz="6600" b="0" i="0" u="none" strike="noStrike" cap="none">
              <a:solidFill>
                <a:schemeClr val="dk1"/>
              </a:solidFill>
              <a:latin typeface="Calibri"/>
              <a:ea typeface="Calibri"/>
              <a:cs typeface="Calibri"/>
              <a:sym typeface="Calibri"/>
            </a:endParaRPr>
          </a:p>
        </p:txBody>
      </p:sp>
      <p:sp>
        <p:nvSpPr>
          <p:cNvPr id="47" name="Google Shape;47;p3"/>
          <p:cNvSpPr txBox="1"/>
          <p:nvPr/>
        </p:nvSpPr>
        <p:spPr>
          <a:xfrm>
            <a:off x="4617720" y="3017520"/>
            <a:ext cx="2880360" cy="15544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BraceletBook users</a:t>
            </a:r>
            <a:endParaRPr sz="3000" b="0" i="0" u="none" strike="noStrike" cap="none">
              <a:solidFill>
                <a:schemeClr val="dk1"/>
              </a:solidFill>
              <a:latin typeface="Calibri"/>
              <a:ea typeface="Calibri"/>
              <a:cs typeface="Calibri"/>
              <a:sym typeface="Calibri"/>
            </a:endParaRPr>
          </a:p>
        </p:txBody>
      </p:sp>
      <p:sp>
        <p:nvSpPr>
          <p:cNvPr id="48" name="Google Shape;48;p3"/>
          <p:cNvSpPr/>
          <p:nvPr/>
        </p:nvSpPr>
        <p:spPr>
          <a:xfrm>
            <a:off x="8046720" y="1645920"/>
            <a:ext cx="3429000" cy="3108960"/>
          </a:xfrm>
          <a:prstGeom prst="roundRect">
            <a:avLst>
              <a:gd name="adj" fmla="val 7353"/>
            </a:avLst>
          </a:prstGeom>
          <a:solidFill>
            <a:srgbClr val="DCF5EA"/>
          </a:solidFill>
          <a:ln w="12700" cap="flat" cmpd="sng">
            <a:solidFill>
              <a:srgbClr val="DCF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txBox="1"/>
          <p:nvPr/>
        </p:nvSpPr>
        <p:spPr>
          <a:xfrm>
            <a:off x="8046720" y="1874520"/>
            <a:ext cx="342900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6600"/>
              <a:buFont typeface="Fredoka"/>
              <a:buNone/>
            </a:pPr>
            <a:r>
              <a:rPr lang="en-US" sz="6600" b="1" i="0" u="none" strike="noStrike" cap="none">
                <a:solidFill>
                  <a:srgbClr val="C93D7A"/>
                </a:solidFill>
                <a:latin typeface="Fredoka"/>
                <a:ea typeface="Fredoka"/>
                <a:cs typeface="Fredoka"/>
                <a:sym typeface="Fredoka"/>
              </a:rPr>
              <a:t>30K</a:t>
            </a:r>
            <a:endParaRPr sz="6600" b="0" i="0" u="none" strike="noStrike" cap="none">
              <a:solidFill>
                <a:schemeClr val="dk1"/>
              </a:solidFill>
              <a:latin typeface="Calibri"/>
              <a:ea typeface="Calibri"/>
              <a:cs typeface="Calibri"/>
              <a:sym typeface="Calibri"/>
            </a:endParaRPr>
          </a:p>
        </p:txBody>
      </p:sp>
      <p:sp>
        <p:nvSpPr>
          <p:cNvPr id="50" name="Google Shape;50;p3"/>
          <p:cNvSpPr txBox="1"/>
          <p:nvPr/>
        </p:nvSpPr>
        <p:spPr>
          <a:xfrm>
            <a:off x="8321040" y="3017520"/>
            <a:ext cx="2880360" cy="15544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Reddit community members</a:t>
            </a:r>
            <a:endParaRPr sz="3000" b="0" i="0" u="none" strike="noStrike" cap="none">
              <a:solidFill>
                <a:schemeClr val="dk1"/>
              </a:solidFill>
              <a:latin typeface="Calibri"/>
              <a:ea typeface="Calibri"/>
              <a:cs typeface="Calibri"/>
              <a:sym typeface="Calibri"/>
            </a:endParaRPr>
          </a:p>
        </p:txBody>
      </p:sp>
      <p:sp>
        <p:nvSpPr>
          <p:cNvPr id="51" name="Google Shape;51;p3"/>
          <p:cNvSpPr txBox="1"/>
          <p:nvPr/>
        </p:nvSpPr>
        <p:spPr>
          <a:xfrm>
            <a:off x="640080" y="5212080"/>
            <a:ext cx="1088136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B2F3A"/>
              </a:buClr>
              <a:buSzPts val="3000"/>
              <a:buFont typeface="Nunito"/>
              <a:buNone/>
            </a:pPr>
            <a:r>
              <a:rPr lang="en-US" sz="3000" b="1" i="0" u="none" strike="noStrike" cap="none">
                <a:solidFill>
                  <a:srgbClr val="3B2F3A"/>
                </a:solidFill>
                <a:latin typeface="Nunito"/>
                <a:ea typeface="Nunito"/>
                <a:cs typeface="Nunito"/>
                <a:sym typeface="Nunito"/>
              </a:rPr>
              <a:t>Huge demand, but still no easy way to design.</a:t>
            </a:r>
            <a:endParaRPr sz="30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Shape 56"/>
        <p:cNvGrpSpPr/>
        <p:nvPr/>
      </p:nvGrpSpPr>
      <p:grpSpPr>
        <a:xfrm>
          <a:off x="0" y="0"/>
          <a:ext cx="0" cy="0"/>
          <a:chOff x="0" y="0"/>
          <a:chExt cx="0" cy="0"/>
        </a:xfrm>
      </p:grpSpPr>
      <p:sp>
        <p:nvSpPr>
          <p:cNvPr id="57" name="Google Shape;57;p4"/>
          <p:cNvSpPr txBox="1"/>
          <p:nvPr/>
        </p:nvSpPr>
        <p:spPr>
          <a:xfrm>
            <a:off x="640080" y="457200"/>
            <a:ext cx="108813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3D7A"/>
              </a:buClr>
              <a:buSzPts val="4400"/>
              <a:buFont typeface="Fredoka"/>
              <a:buNone/>
            </a:pPr>
            <a:r>
              <a:rPr lang="en-US" sz="4400" b="1" i="0" u="none" strike="noStrike" cap="none">
                <a:solidFill>
                  <a:srgbClr val="C93D7A"/>
                </a:solidFill>
                <a:latin typeface="Fredoka"/>
                <a:ea typeface="Fredoka"/>
                <a:cs typeface="Fredoka"/>
                <a:sym typeface="Fredoka"/>
              </a:rPr>
              <a:t>What </a:t>
            </a:r>
            <a:r>
              <a:rPr lang="en-US" sz="4400" b="1">
                <a:solidFill>
                  <a:srgbClr val="C93D7A"/>
                </a:solidFill>
                <a:latin typeface="Fredoka"/>
                <a:ea typeface="Fredoka"/>
                <a:cs typeface="Fredoka"/>
                <a:sym typeface="Fredoka"/>
              </a:rPr>
              <a:t>w</a:t>
            </a:r>
            <a:r>
              <a:rPr lang="en-US" sz="4400" b="1" i="0" u="none" strike="noStrike" cap="none">
                <a:solidFill>
                  <a:srgbClr val="C93D7A"/>
                </a:solidFill>
                <a:latin typeface="Fredoka"/>
                <a:ea typeface="Fredoka"/>
                <a:cs typeface="Fredoka"/>
                <a:sym typeface="Fredoka"/>
              </a:rPr>
              <a:t>e built</a:t>
            </a:r>
            <a:endParaRPr sz="4400" b="0" i="0" u="none" strike="noStrike" cap="none">
              <a:solidFill>
                <a:schemeClr val="dk1"/>
              </a:solidFill>
              <a:latin typeface="Calibri"/>
              <a:ea typeface="Calibri"/>
              <a:cs typeface="Calibri"/>
              <a:sym typeface="Calibri"/>
            </a:endParaRPr>
          </a:p>
        </p:txBody>
      </p:sp>
      <p:sp>
        <p:nvSpPr>
          <p:cNvPr id="58" name="Google Shape;58;p4"/>
          <p:cNvSpPr txBox="1"/>
          <p:nvPr/>
        </p:nvSpPr>
        <p:spPr>
          <a:xfrm>
            <a:off x="640080" y="1463040"/>
            <a:ext cx="10881360" cy="12801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B2F3A"/>
              </a:buClr>
              <a:buSzPts val="3400"/>
              <a:buFont typeface="Nunito"/>
              <a:buNone/>
            </a:pPr>
            <a:r>
              <a:rPr lang="en-US" sz="3400" b="1" i="0" u="none" strike="noStrike" cap="none">
                <a:solidFill>
                  <a:srgbClr val="3B2F3A"/>
                </a:solidFill>
                <a:latin typeface="Nunito"/>
                <a:ea typeface="Nunito"/>
                <a:cs typeface="Nunito"/>
                <a:sym typeface="Nunito"/>
              </a:rPr>
              <a:t>Describe the bracelet you want. Get a pattern you can knot, with exact string lengths.</a:t>
            </a:r>
            <a:endParaRPr sz="3400" b="0" i="0" u="none" strike="noStrike" cap="none">
              <a:solidFill>
                <a:schemeClr val="dk1"/>
              </a:solidFill>
              <a:latin typeface="Calibri"/>
              <a:ea typeface="Calibri"/>
              <a:cs typeface="Calibri"/>
              <a:sym typeface="Calibri"/>
            </a:endParaRPr>
          </a:p>
        </p:txBody>
      </p:sp>
      <p:sp>
        <p:nvSpPr>
          <p:cNvPr id="59" name="Google Shape;59;p4"/>
          <p:cNvSpPr/>
          <p:nvPr/>
        </p:nvSpPr>
        <p:spPr>
          <a:xfrm>
            <a:off x="640080" y="3063240"/>
            <a:ext cx="5349240" cy="1188720"/>
          </a:xfrm>
          <a:prstGeom prst="roundRect">
            <a:avLst>
              <a:gd name="adj" fmla="val 19231"/>
            </a:avLst>
          </a:prstGeom>
          <a:solidFill>
            <a:srgbClr val="FFE6F0"/>
          </a:solidFill>
          <a:ln w="12700" cap="flat" cmpd="sng">
            <a:solidFill>
              <a:srgbClr val="FFE6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txBox="1"/>
          <p:nvPr/>
        </p:nvSpPr>
        <p:spPr>
          <a:xfrm>
            <a:off x="640080" y="3063240"/>
            <a:ext cx="5349240" cy="11887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B2F3A"/>
              </a:buClr>
              <a:buSzPts val="3400"/>
              <a:buFont typeface="Fredoka"/>
              <a:buNone/>
            </a:pPr>
            <a:r>
              <a:rPr lang="en-US" sz="3400" b="1" i="0" u="none" strike="noStrike" cap="none">
                <a:solidFill>
                  <a:srgbClr val="3B2F3A"/>
                </a:solidFill>
                <a:latin typeface="Fredoka"/>
                <a:ea typeface="Fredoka"/>
                <a:cs typeface="Fredoka"/>
                <a:sym typeface="Fredoka"/>
              </a:rPr>
              <a:t>AI patterns</a:t>
            </a:r>
            <a:endParaRPr sz="3400" b="0" i="0" u="none" strike="noStrike" cap="none">
              <a:solidFill>
                <a:schemeClr val="dk1"/>
              </a:solidFill>
              <a:latin typeface="Calibri"/>
              <a:ea typeface="Calibri"/>
              <a:cs typeface="Calibri"/>
              <a:sym typeface="Calibri"/>
            </a:endParaRPr>
          </a:p>
        </p:txBody>
      </p:sp>
      <p:sp>
        <p:nvSpPr>
          <p:cNvPr id="61" name="Google Shape;61;p4"/>
          <p:cNvSpPr/>
          <p:nvPr/>
        </p:nvSpPr>
        <p:spPr>
          <a:xfrm>
            <a:off x="6172200" y="3063240"/>
            <a:ext cx="5349240" cy="1188720"/>
          </a:xfrm>
          <a:prstGeom prst="roundRect">
            <a:avLst>
              <a:gd name="adj" fmla="val 19231"/>
            </a:avLst>
          </a:prstGeom>
          <a:solidFill>
            <a:srgbClr val="ECE6FF"/>
          </a:solidFill>
          <a:ln w="12700" cap="flat" cmpd="sng">
            <a:solidFill>
              <a:srgbClr val="ECE6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txBox="1"/>
          <p:nvPr/>
        </p:nvSpPr>
        <p:spPr>
          <a:xfrm>
            <a:off x="6172200" y="3063240"/>
            <a:ext cx="5349240" cy="11887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B2F3A"/>
              </a:buClr>
              <a:buSzPts val="3400"/>
              <a:buFont typeface="Fredoka"/>
              <a:buNone/>
            </a:pPr>
            <a:r>
              <a:rPr lang="en-US" sz="3400" b="1" i="0" u="none" strike="noStrike" cap="none">
                <a:solidFill>
                  <a:srgbClr val="3B2F3A"/>
                </a:solidFill>
                <a:latin typeface="Fredoka"/>
                <a:ea typeface="Fredoka"/>
                <a:cs typeface="Fredoka"/>
                <a:sym typeface="Fredoka"/>
              </a:rPr>
              <a:t>Easy pixel editor</a:t>
            </a:r>
            <a:endParaRPr sz="3400" b="0" i="0" u="none" strike="noStrike" cap="none">
              <a:solidFill>
                <a:schemeClr val="dk1"/>
              </a:solidFill>
              <a:latin typeface="Calibri"/>
              <a:ea typeface="Calibri"/>
              <a:cs typeface="Calibri"/>
              <a:sym typeface="Calibri"/>
            </a:endParaRPr>
          </a:p>
        </p:txBody>
      </p:sp>
      <p:sp>
        <p:nvSpPr>
          <p:cNvPr id="63" name="Google Shape;63;p4"/>
          <p:cNvSpPr/>
          <p:nvPr/>
        </p:nvSpPr>
        <p:spPr>
          <a:xfrm>
            <a:off x="640080" y="4480560"/>
            <a:ext cx="5349240" cy="1188720"/>
          </a:xfrm>
          <a:prstGeom prst="roundRect">
            <a:avLst>
              <a:gd name="adj" fmla="val 19231"/>
            </a:avLst>
          </a:prstGeom>
          <a:solidFill>
            <a:srgbClr val="DCF5EA"/>
          </a:solidFill>
          <a:ln w="12700" cap="flat" cmpd="sng">
            <a:solidFill>
              <a:srgbClr val="DCF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txBox="1"/>
          <p:nvPr/>
        </p:nvSpPr>
        <p:spPr>
          <a:xfrm>
            <a:off x="640080" y="4480560"/>
            <a:ext cx="5349240" cy="11887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B2F3A"/>
              </a:buClr>
              <a:buSzPts val="3400"/>
              <a:buFont typeface="Fredoka"/>
              <a:buNone/>
            </a:pPr>
            <a:r>
              <a:rPr lang="en-US" sz="3400" b="1" i="0" u="none" strike="noStrike" cap="none">
                <a:solidFill>
                  <a:srgbClr val="3B2F3A"/>
                </a:solidFill>
                <a:latin typeface="Fredoka"/>
                <a:ea typeface="Fredoka"/>
                <a:cs typeface="Fredoka"/>
                <a:sym typeface="Fredoka"/>
              </a:rPr>
              <a:t>String lengths</a:t>
            </a:r>
            <a:endParaRPr sz="3400" b="0" i="0" u="none" strike="noStrike" cap="none">
              <a:solidFill>
                <a:schemeClr val="dk1"/>
              </a:solidFill>
              <a:latin typeface="Calibri"/>
              <a:ea typeface="Calibri"/>
              <a:cs typeface="Calibri"/>
              <a:sym typeface="Calibri"/>
            </a:endParaRPr>
          </a:p>
        </p:txBody>
      </p:sp>
      <p:sp>
        <p:nvSpPr>
          <p:cNvPr id="65" name="Google Shape;65;p4"/>
          <p:cNvSpPr/>
          <p:nvPr/>
        </p:nvSpPr>
        <p:spPr>
          <a:xfrm>
            <a:off x="6172200" y="4480560"/>
            <a:ext cx="5349240" cy="1188720"/>
          </a:xfrm>
          <a:prstGeom prst="roundRect">
            <a:avLst>
              <a:gd name="adj" fmla="val 19231"/>
            </a:avLst>
          </a:prstGeom>
          <a:solidFill>
            <a:srgbClr val="DFF0FF"/>
          </a:solidFill>
          <a:ln w="12700" cap="flat" cmpd="sng">
            <a:solidFill>
              <a:srgbClr val="DFF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txBox="1"/>
          <p:nvPr/>
        </p:nvSpPr>
        <p:spPr>
          <a:xfrm>
            <a:off x="6172200" y="4480560"/>
            <a:ext cx="5349240" cy="11887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B2F3A"/>
              </a:buClr>
              <a:buSzPts val="3400"/>
              <a:buFont typeface="Fredoka"/>
              <a:buNone/>
            </a:pPr>
            <a:r>
              <a:rPr lang="en-US" sz="3400" b="1" i="0" u="none" strike="noStrike" cap="none">
                <a:solidFill>
                  <a:srgbClr val="3B2F3A"/>
                </a:solidFill>
                <a:latin typeface="Fredoka"/>
                <a:ea typeface="Fredoka"/>
                <a:cs typeface="Fredoka"/>
                <a:sym typeface="Fredoka"/>
              </a:rPr>
              <a:t>Share and remix</a:t>
            </a:r>
            <a:endParaRPr sz="34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Shape 71"/>
        <p:cNvGrpSpPr/>
        <p:nvPr/>
      </p:nvGrpSpPr>
      <p:grpSpPr>
        <a:xfrm>
          <a:off x="0" y="0"/>
          <a:ext cx="0" cy="0"/>
          <a:chOff x="0" y="0"/>
          <a:chExt cx="0" cy="0"/>
        </a:xfrm>
      </p:grpSpPr>
      <p:sp>
        <p:nvSpPr>
          <p:cNvPr id="72" name="Google Shape;72;p5"/>
          <p:cNvSpPr txBox="1"/>
          <p:nvPr/>
        </p:nvSpPr>
        <p:spPr>
          <a:xfrm>
            <a:off x="640080" y="457200"/>
            <a:ext cx="108813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3D7A"/>
              </a:buClr>
              <a:buSzPts val="4400"/>
              <a:buFont typeface="Fredoka"/>
              <a:buNone/>
            </a:pPr>
            <a:r>
              <a:rPr lang="en-US" sz="4400" b="1" i="0" u="none" strike="noStrike" cap="none">
                <a:solidFill>
                  <a:srgbClr val="C93D7A"/>
                </a:solidFill>
                <a:latin typeface="Fredoka"/>
                <a:ea typeface="Fredoka"/>
                <a:cs typeface="Fredoka"/>
                <a:sym typeface="Fredoka"/>
              </a:rPr>
              <a:t>How it works</a:t>
            </a:r>
            <a:endParaRPr sz="4400" b="0" i="0" u="none" strike="noStrike" cap="none">
              <a:solidFill>
                <a:schemeClr val="dk1"/>
              </a:solidFill>
              <a:latin typeface="Calibri"/>
              <a:ea typeface="Calibri"/>
              <a:cs typeface="Calibri"/>
              <a:sym typeface="Calibri"/>
            </a:endParaRPr>
          </a:p>
        </p:txBody>
      </p:sp>
      <p:sp>
        <p:nvSpPr>
          <p:cNvPr id="73" name="Google Shape;73;p5"/>
          <p:cNvSpPr/>
          <p:nvPr/>
        </p:nvSpPr>
        <p:spPr>
          <a:xfrm>
            <a:off x="655168" y="1691640"/>
            <a:ext cx="2377440" cy="2834640"/>
          </a:xfrm>
          <a:prstGeom prst="roundRect">
            <a:avLst>
              <a:gd name="adj" fmla="val 9615"/>
            </a:avLst>
          </a:prstGeom>
          <a:solidFill>
            <a:srgbClr val="FFE6F0"/>
          </a:solidFill>
          <a:ln w="12700" cap="flat" cmpd="sng">
            <a:solidFill>
              <a:srgbClr val="FFE6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txBox="1"/>
          <p:nvPr/>
        </p:nvSpPr>
        <p:spPr>
          <a:xfrm>
            <a:off x="655168" y="1828800"/>
            <a:ext cx="237744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C5F99"/>
              </a:buClr>
              <a:buSzPts val="4400"/>
              <a:buFont typeface="Fredoka"/>
              <a:buNone/>
            </a:pPr>
            <a:r>
              <a:rPr lang="en-US" sz="4400" b="1" i="0" u="none" strike="noStrike" cap="none">
                <a:solidFill>
                  <a:srgbClr val="EC5F99"/>
                </a:solidFill>
                <a:latin typeface="Fredoka"/>
                <a:ea typeface="Fredoka"/>
                <a:cs typeface="Fredoka"/>
                <a:sym typeface="Fredoka"/>
              </a:rPr>
              <a:t>1</a:t>
            </a:r>
            <a:endParaRPr sz="4400" b="0" i="0" u="none" strike="noStrike" cap="none">
              <a:solidFill>
                <a:schemeClr val="dk1"/>
              </a:solidFill>
              <a:latin typeface="Calibri"/>
              <a:ea typeface="Calibri"/>
              <a:cs typeface="Calibri"/>
              <a:sym typeface="Calibri"/>
            </a:endParaRPr>
          </a:p>
        </p:txBody>
      </p:sp>
      <p:sp>
        <p:nvSpPr>
          <p:cNvPr id="75" name="Google Shape;75;p5"/>
          <p:cNvSpPr txBox="1"/>
          <p:nvPr/>
        </p:nvSpPr>
        <p:spPr>
          <a:xfrm>
            <a:off x="792328" y="2606040"/>
            <a:ext cx="2103120" cy="1828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1" i="0" u="none" strike="noStrike" cap="none">
                <a:solidFill>
                  <a:srgbClr val="3B2F3A"/>
                </a:solidFill>
                <a:latin typeface="Nunito"/>
                <a:ea typeface="Nunito"/>
                <a:cs typeface="Nunito"/>
                <a:sym typeface="Nunito"/>
              </a:rPr>
              <a:t>You describe it</a:t>
            </a:r>
            <a:endParaRPr sz="3000" b="0" i="0" u="none" strike="noStrike" cap="none">
              <a:solidFill>
                <a:schemeClr val="dk1"/>
              </a:solidFill>
              <a:latin typeface="Calibri"/>
              <a:ea typeface="Calibri"/>
              <a:cs typeface="Calibri"/>
              <a:sym typeface="Calibri"/>
            </a:endParaRPr>
          </a:p>
        </p:txBody>
      </p:sp>
      <p:sp>
        <p:nvSpPr>
          <p:cNvPr id="76" name="Google Shape;76;p5"/>
          <p:cNvSpPr/>
          <p:nvPr/>
        </p:nvSpPr>
        <p:spPr>
          <a:xfrm>
            <a:off x="3078328" y="2834640"/>
            <a:ext cx="365760" cy="365760"/>
          </a:xfrm>
          <a:prstGeom prst="rightArrow">
            <a:avLst>
              <a:gd name="adj1" fmla="val 50000"/>
              <a:gd name="adj2" fmla="val 50000"/>
            </a:avLst>
          </a:prstGeom>
          <a:solidFill>
            <a:srgbClr val="EC5F99"/>
          </a:solidFill>
          <a:ln w="12700" cap="flat" cmpd="sng">
            <a:solidFill>
              <a:srgbClr val="EC5F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3489808" y="1691640"/>
            <a:ext cx="2377440" cy="2834640"/>
          </a:xfrm>
          <a:prstGeom prst="roundRect">
            <a:avLst>
              <a:gd name="adj" fmla="val 9615"/>
            </a:avLst>
          </a:prstGeom>
          <a:solidFill>
            <a:srgbClr val="FFF3C9"/>
          </a:solidFill>
          <a:ln w="12700" cap="flat" cmpd="sng">
            <a:solidFill>
              <a:srgbClr val="FFF3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txBox="1"/>
          <p:nvPr/>
        </p:nvSpPr>
        <p:spPr>
          <a:xfrm>
            <a:off x="3489808" y="1828800"/>
            <a:ext cx="237744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C5F99"/>
              </a:buClr>
              <a:buSzPts val="4400"/>
              <a:buFont typeface="Fredoka"/>
              <a:buNone/>
            </a:pPr>
            <a:r>
              <a:rPr lang="en-US" sz="4400" b="1" i="0" u="none" strike="noStrike" cap="none">
                <a:solidFill>
                  <a:srgbClr val="EC5F99"/>
                </a:solidFill>
                <a:latin typeface="Fredoka"/>
                <a:ea typeface="Fredoka"/>
                <a:cs typeface="Fredoka"/>
                <a:sym typeface="Fredoka"/>
              </a:rPr>
              <a:t>2</a:t>
            </a:r>
            <a:endParaRPr sz="4400" b="0" i="0" u="none" strike="noStrike" cap="none">
              <a:solidFill>
                <a:schemeClr val="dk1"/>
              </a:solidFill>
              <a:latin typeface="Calibri"/>
              <a:ea typeface="Calibri"/>
              <a:cs typeface="Calibri"/>
              <a:sym typeface="Calibri"/>
            </a:endParaRPr>
          </a:p>
        </p:txBody>
      </p:sp>
      <p:sp>
        <p:nvSpPr>
          <p:cNvPr id="79" name="Google Shape;79;p5"/>
          <p:cNvSpPr txBox="1"/>
          <p:nvPr/>
        </p:nvSpPr>
        <p:spPr>
          <a:xfrm>
            <a:off x="3626968" y="2606040"/>
            <a:ext cx="2103120" cy="1828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1" i="0" u="none" strike="noStrike" cap="none">
                <a:solidFill>
                  <a:srgbClr val="3B2F3A"/>
                </a:solidFill>
                <a:latin typeface="Nunito"/>
                <a:ea typeface="Nunito"/>
                <a:cs typeface="Nunito"/>
                <a:sym typeface="Nunito"/>
              </a:rPr>
              <a:t>AI writes a recipe</a:t>
            </a:r>
            <a:endParaRPr sz="3000" b="0" i="0" u="none" strike="noStrike" cap="none">
              <a:solidFill>
                <a:schemeClr val="dk1"/>
              </a:solidFill>
              <a:latin typeface="Calibri"/>
              <a:ea typeface="Calibri"/>
              <a:cs typeface="Calibri"/>
              <a:sym typeface="Calibri"/>
            </a:endParaRPr>
          </a:p>
        </p:txBody>
      </p:sp>
      <p:sp>
        <p:nvSpPr>
          <p:cNvPr id="80" name="Google Shape;80;p5"/>
          <p:cNvSpPr/>
          <p:nvPr/>
        </p:nvSpPr>
        <p:spPr>
          <a:xfrm>
            <a:off x="5912968" y="2834640"/>
            <a:ext cx="365760" cy="365760"/>
          </a:xfrm>
          <a:prstGeom prst="rightArrow">
            <a:avLst>
              <a:gd name="adj1" fmla="val 50000"/>
              <a:gd name="adj2" fmla="val 50000"/>
            </a:avLst>
          </a:prstGeom>
          <a:solidFill>
            <a:srgbClr val="EC5F99"/>
          </a:solidFill>
          <a:ln w="12700" cap="flat" cmpd="sng">
            <a:solidFill>
              <a:srgbClr val="EC5F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6324448" y="1691640"/>
            <a:ext cx="2377440" cy="2834640"/>
          </a:xfrm>
          <a:prstGeom prst="roundRect">
            <a:avLst>
              <a:gd name="adj" fmla="val 9615"/>
            </a:avLst>
          </a:prstGeom>
          <a:solidFill>
            <a:srgbClr val="DCF5EA"/>
          </a:solidFill>
          <a:ln w="12700" cap="flat" cmpd="sng">
            <a:solidFill>
              <a:srgbClr val="DCF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txBox="1"/>
          <p:nvPr/>
        </p:nvSpPr>
        <p:spPr>
          <a:xfrm>
            <a:off x="6324448" y="1828800"/>
            <a:ext cx="237744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C5F99"/>
              </a:buClr>
              <a:buSzPts val="4400"/>
              <a:buFont typeface="Fredoka"/>
              <a:buNone/>
            </a:pPr>
            <a:r>
              <a:rPr lang="en-US" sz="4400" b="1" i="0" u="none" strike="noStrike" cap="none">
                <a:solidFill>
                  <a:srgbClr val="EC5F99"/>
                </a:solidFill>
                <a:latin typeface="Fredoka"/>
                <a:ea typeface="Fredoka"/>
                <a:cs typeface="Fredoka"/>
                <a:sym typeface="Fredoka"/>
              </a:rPr>
              <a:t>3</a:t>
            </a:r>
            <a:endParaRPr sz="4400" b="0" i="0" u="none" strike="noStrike" cap="none">
              <a:solidFill>
                <a:schemeClr val="dk1"/>
              </a:solidFill>
              <a:latin typeface="Calibri"/>
              <a:ea typeface="Calibri"/>
              <a:cs typeface="Calibri"/>
              <a:sym typeface="Calibri"/>
            </a:endParaRPr>
          </a:p>
        </p:txBody>
      </p:sp>
      <p:sp>
        <p:nvSpPr>
          <p:cNvPr id="83" name="Google Shape;83;p5"/>
          <p:cNvSpPr txBox="1"/>
          <p:nvPr/>
        </p:nvSpPr>
        <p:spPr>
          <a:xfrm>
            <a:off x="6461608" y="2606040"/>
            <a:ext cx="2103120" cy="1828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1" i="0" u="none" strike="noStrike" cap="none">
                <a:solidFill>
                  <a:srgbClr val="3B2F3A"/>
                </a:solidFill>
                <a:latin typeface="Nunito"/>
                <a:ea typeface="Nunito"/>
                <a:cs typeface="Nunito"/>
                <a:sym typeface="Nunito"/>
              </a:rPr>
              <a:t>Engine builds the pattern</a:t>
            </a:r>
            <a:endParaRPr sz="3000" b="0" i="0" u="none" strike="noStrike" cap="none">
              <a:solidFill>
                <a:schemeClr val="dk1"/>
              </a:solidFill>
              <a:latin typeface="Calibri"/>
              <a:ea typeface="Calibri"/>
              <a:cs typeface="Calibri"/>
              <a:sym typeface="Calibri"/>
            </a:endParaRPr>
          </a:p>
        </p:txBody>
      </p:sp>
      <p:sp>
        <p:nvSpPr>
          <p:cNvPr id="84" name="Google Shape;84;p5"/>
          <p:cNvSpPr/>
          <p:nvPr/>
        </p:nvSpPr>
        <p:spPr>
          <a:xfrm>
            <a:off x="8747608" y="2834640"/>
            <a:ext cx="365760" cy="365760"/>
          </a:xfrm>
          <a:prstGeom prst="rightArrow">
            <a:avLst>
              <a:gd name="adj1" fmla="val 50000"/>
              <a:gd name="adj2" fmla="val 50000"/>
            </a:avLst>
          </a:prstGeom>
          <a:solidFill>
            <a:srgbClr val="EC5F99"/>
          </a:solidFill>
          <a:ln w="12700" cap="flat" cmpd="sng">
            <a:solidFill>
              <a:srgbClr val="EC5F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9159088" y="1691640"/>
            <a:ext cx="2377440" cy="2834640"/>
          </a:xfrm>
          <a:prstGeom prst="roundRect">
            <a:avLst>
              <a:gd name="adj" fmla="val 9615"/>
            </a:avLst>
          </a:prstGeom>
          <a:solidFill>
            <a:srgbClr val="DFF0FF"/>
          </a:solidFill>
          <a:ln w="12700" cap="flat" cmpd="sng">
            <a:solidFill>
              <a:srgbClr val="DFF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txBox="1"/>
          <p:nvPr/>
        </p:nvSpPr>
        <p:spPr>
          <a:xfrm>
            <a:off x="9159088" y="1828800"/>
            <a:ext cx="237744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C5F99"/>
              </a:buClr>
              <a:buSzPts val="4400"/>
              <a:buFont typeface="Fredoka"/>
              <a:buNone/>
            </a:pPr>
            <a:r>
              <a:rPr lang="en-US" sz="4400" b="1" i="0" u="none" strike="noStrike" cap="none">
                <a:solidFill>
                  <a:srgbClr val="EC5F99"/>
                </a:solidFill>
                <a:latin typeface="Fredoka"/>
                <a:ea typeface="Fredoka"/>
                <a:cs typeface="Fredoka"/>
                <a:sym typeface="Fredoka"/>
              </a:rPr>
              <a:t>4</a:t>
            </a:r>
            <a:endParaRPr sz="4400" b="0" i="0" u="none" strike="noStrike" cap="none">
              <a:solidFill>
                <a:schemeClr val="dk1"/>
              </a:solidFill>
              <a:latin typeface="Calibri"/>
              <a:ea typeface="Calibri"/>
              <a:cs typeface="Calibri"/>
              <a:sym typeface="Calibri"/>
            </a:endParaRPr>
          </a:p>
        </p:txBody>
      </p:sp>
      <p:sp>
        <p:nvSpPr>
          <p:cNvPr id="87" name="Google Shape;87;p5"/>
          <p:cNvSpPr txBox="1"/>
          <p:nvPr/>
        </p:nvSpPr>
        <p:spPr>
          <a:xfrm>
            <a:off x="9296248" y="2606040"/>
            <a:ext cx="2103120" cy="1828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1" i="0" u="none" strike="noStrike" cap="none">
                <a:solidFill>
                  <a:srgbClr val="3B2F3A"/>
                </a:solidFill>
                <a:latin typeface="Nunito"/>
                <a:ea typeface="Nunito"/>
                <a:cs typeface="Nunito"/>
                <a:sym typeface="Nunito"/>
              </a:rPr>
              <a:t>You get string lengths</a:t>
            </a:r>
            <a:endParaRPr sz="3000" b="0" i="0" u="none" strike="noStrike" cap="none">
              <a:solidFill>
                <a:schemeClr val="dk1"/>
              </a:solidFill>
              <a:latin typeface="Calibri"/>
              <a:ea typeface="Calibri"/>
              <a:cs typeface="Calibri"/>
              <a:sym typeface="Calibri"/>
            </a:endParaRPr>
          </a:p>
        </p:txBody>
      </p:sp>
      <p:sp>
        <p:nvSpPr>
          <p:cNvPr id="88" name="Google Shape;88;p5"/>
          <p:cNvSpPr txBox="1"/>
          <p:nvPr/>
        </p:nvSpPr>
        <p:spPr>
          <a:xfrm>
            <a:off x="640080" y="4937760"/>
            <a:ext cx="1088136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3000"/>
              <a:buFont typeface="Nunito"/>
              <a:buNone/>
            </a:pPr>
            <a:r>
              <a:rPr lang="en-US" sz="3000" b="1" dirty="0">
                <a:solidFill>
                  <a:srgbClr val="EC5F99"/>
                </a:solidFill>
                <a:latin typeface="Nunito"/>
                <a:ea typeface="Nunito"/>
                <a:cs typeface="Nunito"/>
                <a:sym typeface="Nunito"/>
                <a:hlinkClick r:id="rId3">
                  <a:extLst>
                    <a:ext uri="{A12FA001-AC4F-418D-AE19-62706E023703}">
                      <ahyp:hlinkClr xmlns:ahyp="http://schemas.microsoft.com/office/drawing/2018/hyperlinkcolor" val="tx"/>
                    </a:ext>
                  </a:extLst>
                </a:hlinkClick>
              </a:rPr>
              <a:t>link to demo</a:t>
            </a:r>
            <a:endParaRPr sz="3000" b="0" i="0" u="none" strike="noStrike" cap="none" dirty="0">
              <a:solidFill>
                <a:srgbClr val="EC5F99"/>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Shape 93"/>
        <p:cNvGrpSpPr/>
        <p:nvPr/>
      </p:nvGrpSpPr>
      <p:grpSpPr>
        <a:xfrm>
          <a:off x="0" y="0"/>
          <a:ext cx="0" cy="0"/>
          <a:chOff x="0" y="0"/>
          <a:chExt cx="0" cy="0"/>
        </a:xfrm>
      </p:grpSpPr>
      <p:sp>
        <p:nvSpPr>
          <p:cNvPr id="94" name="Google Shape;94;p6"/>
          <p:cNvSpPr txBox="1"/>
          <p:nvPr/>
        </p:nvSpPr>
        <p:spPr>
          <a:xfrm>
            <a:off x="640080" y="457200"/>
            <a:ext cx="108813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3D7A"/>
              </a:buClr>
              <a:buSzPts val="4400"/>
              <a:buFont typeface="Fredoka"/>
              <a:buNone/>
            </a:pPr>
            <a:r>
              <a:rPr lang="en-US" sz="4400" b="1" i="0" u="none" strike="noStrike" cap="none">
                <a:solidFill>
                  <a:srgbClr val="C93D7A"/>
                </a:solidFill>
                <a:latin typeface="Fredoka"/>
                <a:ea typeface="Fredoka"/>
                <a:cs typeface="Fredoka"/>
                <a:sym typeface="Fredoka"/>
              </a:rPr>
              <a:t>How we make money</a:t>
            </a:r>
            <a:endParaRPr sz="4400" b="0" i="0" u="none" strike="noStrike" cap="none">
              <a:solidFill>
                <a:schemeClr val="dk1"/>
              </a:solidFill>
              <a:latin typeface="Calibri"/>
              <a:ea typeface="Calibri"/>
              <a:cs typeface="Calibri"/>
              <a:sym typeface="Calibri"/>
            </a:endParaRPr>
          </a:p>
        </p:txBody>
      </p:sp>
      <p:sp>
        <p:nvSpPr>
          <p:cNvPr id="95" name="Google Shape;95;p6"/>
          <p:cNvSpPr/>
          <p:nvPr/>
        </p:nvSpPr>
        <p:spPr>
          <a:xfrm>
            <a:off x="640080" y="1645920"/>
            <a:ext cx="3429000" cy="3291840"/>
          </a:xfrm>
          <a:prstGeom prst="roundRect">
            <a:avLst>
              <a:gd name="adj" fmla="val 6944"/>
            </a:avLst>
          </a:prstGeom>
          <a:solidFill>
            <a:srgbClr val="FFE6F0"/>
          </a:solidFill>
          <a:ln w="12700" cap="flat" cmpd="sng">
            <a:solidFill>
              <a:srgbClr val="FFE6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txBox="1"/>
          <p:nvPr/>
        </p:nvSpPr>
        <p:spPr>
          <a:xfrm>
            <a:off x="640080" y="1920240"/>
            <a:ext cx="342900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4000"/>
              <a:buFont typeface="Fredoka"/>
              <a:buNone/>
            </a:pPr>
            <a:r>
              <a:rPr lang="en-US" sz="4000" b="1" i="0" u="none" strike="noStrike" cap="none">
                <a:solidFill>
                  <a:srgbClr val="C93D7A"/>
                </a:solidFill>
                <a:latin typeface="Fredoka"/>
                <a:ea typeface="Fredoka"/>
                <a:cs typeface="Fredoka"/>
                <a:sym typeface="Fredoka"/>
              </a:rPr>
              <a:t>Free</a:t>
            </a:r>
            <a:endParaRPr sz="4000" b="0" i="0" u="none" strike="noStrike" cap="none">
              <a:solidFill>
                <a:schemeClr val="dk1"/>
              </a:solidFill>
              <a:latin typeface="Calibri"/>
              <a:ea typeface="Calibri"/>
              <a:cs typeface="Calibri"/>
              <a:sym typeface="Calibri"/>
            </a:endParaRPr>
          </a:p>
        </p:txBody>
      </p:sp>
      <p:sp>
        <p:nvSpPr>
          <p:cNvPr id="97" name="Google Shape;97;p6"/>
          <p:cNvSpPr txBox="1"/>
          <p:nvPr/>
        </p:nvSpPr>
        <p:spPr>
          <a:xfrm>
            <a:off x="914400" y="2788920"/>
            <a:ext cx="2880360" cy="19202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Ads</a:t>
            </a:r>
            <a:endParaRPr sz="3000" b="0" i="0" u="none" strike="noStrike" cap="none">
              <a:solidFill>
                <a:schemeClr val="dk1"/>
              </a:solidFill>
              <a:latin typeface="Calibri"/>
              <a:ea typeface="Calibri"/>
              <a:cs typeface="Calibri"/>
              <a:sym typeface="Calibri"/>
            </a:endParaRPr>
          </a:p>
        </p:txBody>
      </p:sp>
      <p:sp>
        <p:nvSpPr>
          <p:cNvPr id="98" name="Google Shape;98;p6"/>
          <p:cNvSpPr/>
          <p:nvPr/>
        </p:nvSpPr>
        <p:spPr>
          <a:xfrm>
            <a:off x="4343400" y="1645920"/>
            <a:ext cx="3429000" cy="3291840"/>
          </a:xfrm>
          <a:prstGeom prst="roundRect">
            <a:avLst>
              <a:gd name="adj" fmla="val 6944"/>
            </a:avLst>
          </a:prstGeom>
          <a:solidFill>
            <a:srgbClr val="ECE6FF"/>
          </a:solidFill>
          <a:ln w="12700" cap="flat" cmpd="sng">
            <a:solidFill>
              <a:srgbClr val="ECE6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txBox="1"/>
          <p:nvPr/>
        </p:nvSpPr>
        <p:spPr>
          <a:xfrm>
            <a:off x="4343400" y="1920240"/>
            <a:ext cx="342900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4000"/>
              <a:buFont typeface="Fredoka"/>
              <a:buNone/>
            </a:pPr>
            <a:r>
              <a:rPr lang="en-US" sz="4000" b="1" i="0" u="none" strike="noStrike" cap="none">
                <a:solidFill>
                  <a:srgbClr val="C93D7A"/>
                </a:solidFill>
                <a:latin typeface="Fredoka"/>
                <a:ea typeface="Fredoka"/>
                <a:cs typeface="Fredoka"/>
                <a:sym typeface="Fredoka"/>
              </a:rPr>
              <a:t>Premium</a:t>
            </a:r>
            <a:endParaRPr sz="4000" b="0" i="0" u="none" strike="noStrike" cap="none">
              <a:solidFill>
                <a:schemeClr val="dk1"/>
              </a:solidFill>
              <a:latin typeface="Calibri"/>
              <a:ea typeface="Calibri"/>
              <a:cs typeface="Calibri"/>
              <a:sym typeface="Calibri"/>
            </a:endParaRPr>
          </a:p>
        </p:txBody>
      </p:sp>
      <p:sp>
        <p:nvSpPr>
          <p:cNvPr id="100" name="Google Shape;100;p6"/>
          <p:cNvSpPr txBox="1"/>
          <p:nvPr/>
        </p:nvSpPr>
        <p:spPr>
          <a:xfrm>
            <a:off x="4617720" y="2788920"/>
            <a:ext cx="2880360" cy="19202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$2.99 / month for unlimited AI</a:t>
            </a:r>
            <a:endParaRPr sz="3000" b="0" i="0" u="none" strike="noStrike" cap="none">
              <a:solidFill>
                <a:schemeClr val="dk1"/>
              </a:solidFill>
              <a:latin typeface="Calibri"/>
              <a:ea typeface="Calibri"/>
              <a:cs typeface="Calibri"/>
              <a:sym typeface="Calibri"/>
            </a:endParaRPr>
          </a:p>
        </p:txBody>
      </p:sp>
      <p:sp>
        <p:nvSpPr>
          <p:cNvPr id="101" name="Google Shape;101;p6"/>
          <p:cNvSpPr/>
          <p:nvPr/>
        </p:nvSpPr>
        <p:spPr>
          <a:xfrm>
            <a:off x="8046720" y="1645920"/>
            <a:ext cx="3429000" cy="3291840"/>
          </a:xfrm>
          <a:prstGeom prst="roundRect">
            <a:avLst>
              <a:gd name="adj" fmla="val 6944"/>
            </a:avLst>
          </a:prstGeom>
          <a:solidFill>
            <a:srgbClr val="DCF5EA"/>
          </a:solidFill>
          <a:ln w="12700" cap="flat" cmpd="sng">
            <a:solidFill>
              <a:srgbClr val="DCF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txBox="1"/>
          <p:nvPr/>
        </p:nvSpPr>
        <p:spPr>
          <a:xfrm>
            <a:off x="8046720" y="1920240"/>
            <a:ext cx="342900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4000"/>
              <a:buFont typeface="Fredoka"/>
              <a:buNone/>
            </a:pPr>
            <a:r>
              <a:rPr lang="en-US" sz="4000" b="1" i="0" u="none" strike="noStrike" cap="none">
                <a:solidFill>
                  <a:srgbClr val="C93D7A"/>
                </a:solidFill>
                <a:latin typeface="Fredoka"/>
                <a:ea typeface="Fredoka"/>
                <a:cs typeface="Fredoka"/>
                <a:sym typeface="Fredoka"/>
              </a:rPr>
              <a:t>Affiliate</a:t>
            </a:r>
            <a:endParaRPr sz="4000" b="0" i="0" u="none" strike="noStrike" cap="none">
              <a:solidFill>
                <a:schemeClr val="dk1"/>
              </a:solidFill>
              <a:latin typeface="Calibri"/>
              <a:ea typeface="Calibri"/>
              <a:cs typeface="Calibri"/>
              <a:sym typeface="Calibri"/>
            </a:endParaRPr>
          </a:p>
        </p:txBody>
      </p:sp>
      <p:sp>
        <p:nvSpPr>
          <p:cNvPr id="103" name="Google Shape;103;p6"/>
          <p:cNvSpPr txBox="1"/>
          <p:nvPr/>
        </p:nvSpPr>
        <p:spPr>
          <a:xfrm>
            <a:off x="8321040" y="2788920"/>
            <a:ext cx="2880360" cy="19202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Links to thread shops</a:t>
            </a:r>
            <a:endParaRPr sz="3000" b="0" i="0" u="none" strike="noStrike" cap="none">
              <a:solidFill>
                <a:schemeClr val="dk1"/>
              </a:solidFill>
              <a:latin typeface="Calibri"/>
              <a:ea typeface="Calibri"/>
              <a:cs typeface="Calibri"/>
              <a:sym typeface="Calibri"/>
            </a:endParaRPr>
          </a:p>
        </p:txBody>
      </p:sp>
      <p:sp>
        <p:nvSpPr>
          <p:cNvPr id="104" name="Google Shape;104;p6"/>
          <p:cNvSpPr txBox="1"/>
          <p:nvPr/>
        </p:nvSpPr>
        <p:spPr>
          <a:xfrm>
            <a:off x="640080" y="5349240"/>
            <a:ext cx="1088136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B2F3A"/>
              </a:buClr>
              <a:buSzPts val="3000"/>
              <a:buFont typeface="Nunito"/>
              <a:buNone/>
            </a:pPr>
            <a:r>
              <a:rPr lang="en-US" sz="3000" b="1" i="0" u="none" strike="noStrike" cap="none">
                <a:solidFill>
                  <a:srgbClr val="3B2F3A"/>
                </a:solidFill>
                <a:latin typeface="Nunito"/>
                <a:ea typeface="Nunito"/>
                <a:cs typeface="Nunito"/>
                <a:sym typeface="Nunito"/>
              </a:rPr>
              <a:t>Free first, so switching to us is easy.</a:t>
            </a:r>
            <a:endParaRPr sz="30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Shape 109"/>
        <p:cNvGrpSpPr/>
        <p:nvPr/>
      </p:nvGrpSpPr>
      <p:grpSpPr>
        <a:xfrm>
          <a:off x="0" y="0"/>
          <a:ext cx="0" cy="0"/>
          <a:chOff x="0" y="0"/>
          <a:chExt cx="0" cy="0"/>
        </a:xfrm>
      </p:grpSpPr>
      <p:sp>
        <p:nvSpPr>
          <p:cNvPr id="110" name="Google Shape;110;p7"/>
          <p:cNvSpPr txBox="1"/>
          <p:nvPr/>
        </p:nvSpPr>
        <p:spPr>
          <a:xfrm>
            <a:off x="640080" y="457200"/>
            <a:ext cx="108813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3D7A"/>
              </a:buClr>
              <a:buSzPts val="4400"/>
              <a:buFont typeface="Fredoka"/>
              <a:buNone/>
            </a:pPr>
            <a:r>
              <a:rPr lang="en-US" sz="4400" b="1" i="0" u="none" strike="noStrike" cap="none">
                <a:solidFill>
                  <a:srgbClr val="C93D7A"/>
                </a:solidFill>
                <a:latin typeface="Fredoka"/>
                <a:ea typeface="Fredoka"/>
                <a:cs typeface="Fredoka"/>
                <a:sym typeface="Fredoka"/>
              </a:rPr>
              <a:t>Getting users</a:t>
            </a:r>
            <a:endParaRPr sz="4400" b="0" i="0" u="none" strike="noStrike" cap="none">
              <a:solidFill>
                <a:schemeClr val="dk1"/>
              </a:solidFill>
              <a:latin typeface="Calibri"/>
              <a:ea typeface="Calibri"/>
              <a:cs typeface="Calibri"/>
              <a:sym typeface="Calibri"/>
            </a:endParaRPr>
          </a:p>
        </p:txBody>
      </p:sp>
      <p:sp>
        <p:nvSpPr>
          <p:cNvPr id="111" name="Google Shape;111;p7"/>
          <p:cNvSpPr/>
          <p:nvPr/>
        </p:nvSpPr>
        <p:spPr>
          <a:xfrm>
            <a:off x="640080" y="1645920"/>
            <a:ext cx="3429000" cy="3840480"/>
          </a:xfrm>
          <a:prstGeom prst="roundRect">
            <a:avLst>
              <a:gd name="adj" fmla="val 6667"/>
            </a:avLst>
          </a:prstGeom>
          <a:solidFill>
            <a:srgbClr val="FFE6F0"/>
          </a:solidFill>
          <a:ln w="12700" cap="flat" cmpd="sng">
            <a:solidFill>
              <a:srgbClr val="FFE6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7"/>
          <p:cNvSpPr txBox="1"/>
          <p:nvPr/>
        </p:nvSpPr>
        <p:spPr>
          <a:xfrm>
            <a:off x="640080" y="1920240"/>
            <a:ext cx="342900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3400"/>
              <a:buFont typeface="Fredoka"/>
              <a:buNone/>
            </a:pPr>
            <a:r>
              <a:rPr lang="en-US" sz="3400" b="1" i="0" u="none" strike="noStrike" cap="none">
                <a:solidFill>
                  <a:srgbClr val="C93D7A"/>
                </a:solidFill>
                <a:latin typeface="Fredoka"/>
                <a:ea typeface="Fredoka"/>
                <a:cs typeface="Fredoka"/>
                <a:sym typeface="Fredoka"/>
              </a:rPr>
              <a:t>Months 1–2</a:t>
            </a:r>
            <a:endParaRPr sz="3400" b="0" i="0" u="none" strike="noStrike" cap="none">
              <a:solidFill>
                <a:schemeClr val="dk1"/>
              </a:solidFill>
              <a:latin typeface="Calibri"/>
              <a:ea typeface="Calibri"/>
              <a:cs typeface="Calibri"/>
              <a:sym typeface="Calibri"/>
            </a:endParaRPr>
          </a:p>
        </p:txBody>
      </p:sp>
      <p:sp>
        <p:nvSpPr>
          <p:cNvPr id="113" name="Google Shape;113;p7"/>
          <p:cNvSpPr txBox="1"/>
          <p:nvPr/>
        </p:nvSpPr>
        <p:spPr>
          <a:xfrm>
            <a:off x="914400" y="2743200"/>
            <a:ext cx="2880360" cy="2560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Free string calculator on Reddit and search</a:t>
            </a:r>
            <a:endParaRPr sz="3000" b="0" i="0" u="none" strike="noStrike" cap="none">
              <a:solidFill>
                <a:schemeClr val="dk1"/>
              </a:solidFill>
              <a:latin typeface="Calibri"/>
              <a:ea typeface="Calibri"/>
              <a:cs typeface="Calibri"/>
              <a:sym typeface="Calibri"/>
            </a:endParaRPr>
          </a:p>
        </p:txBody>
      </p:sp>
      <p:sp>
        <p:nvSpPr>
          <p:cNvPr id="114" name="Google Shape;114;p7"/>
          <p:cNvSpPr/>
          <p:nvPr/>
        </p:nvSpPr>
        <p:spPr>
          <a:xfrm>
            <a:off x="4069080" y="3383280"/>
            <a:ext cx="365760" cy="365760"/>
          </a:xfrm>
          <a:prstGeom prst="rightArrow">
            <a:avLst>
              <a:gd name="adj1" fmla="val 50000"/>
              <a:gd name="adj2" fmla="val 50000"/>
            </a:avLst>
          </a:prstGeom>
          <a:solidFill>
            <a:srgbClr val="EC5F99"/>
          </a:solidFill>
          <a:ln w="12700" cap="flat" cmpd="sng">
            <a:solidFill>
              <a:srgbClr val="EC5F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4343400" y="1645920"/>
            <a:ext cx="3429000" cy="3840480"/>
          </a:xfrm>
          <a:prstGeom prst="roundRect">
            <a:avLst>
              <a:gd name="adj" fmla="val 6667"/>
            </a:avLst>
          </a:prstGeom>
          <a:solidFill>
            <a:srgbClr val="FFF3C9"/>
          </a:solidFill>
          <a:ln w="12700" cap="flat" cmpd="sng">
            <a:solidFill>
              <a:srgbClr val="FFF3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7"/>
          <p:cNvSpPr txBox="1"/>
          <p:nvPr/>
        </p:nvSpPr>
        <p:spPr>
          <a:xfrm>
            <a:off x="4343400" y="1920240"/>
            <a:ext cx="342900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3400"/>
              <a:buFont typeface="Fredoka"/>
              <a:buNone/>
            </a:pPr>
            <a:r>
              <a:rPr lang="en-US" sz="3400" b="1" i="0" u="none" strike="noStrike" cap="none">
                <a:solidFill>
                  <a:srgbClr val="C93D7A"/>
                </a:solidFill>
                <a:latin typeface="Fredoka"/>
                <a:ea typeface="Fredoka"/>
                <a:cs typeface="Fredoka"/>
                <a:sym typeface="Fredoka"/>
              </a:rPr>
              <a:t>Months 3–6</a:t>
            </a:r>
            <a:endParaRPr sz="3400" b="0" i="0" u="none" strike="noStrike" cap="none">
              <a:solidFill>
                <a:schemeClr val="dk1"/>
              </a:solidFill>
              <a:latin typeface="Calibri"/>
              <a:ea typeface="Calibri"/>
              <a:cs typeface="Calibri"/>
              <a:sym typeface="Calibri"/>
            </a:endParaRPr>
          </a:p>
        </p:txBody>
      </p:sp>
      <p:sp>
        <p:nvSpPr>
          <p:cNvPr id="117" name="Google Shape;117;p7"/>
          <p:cNvSpPr txBox="1"/>
          <p:nvPr/>
        </p:nvSpPr>
        <p:spPr>
          <a:xfrm>
            <a:off x="4617720" y="2743200"/>
            <a:ext cx="2880360" cy="2560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Beginner creators on TikTok and YouTube</a:t>
            </a:r>
            <a:endParaRPr sz="3000" b="0" i="0" u="none" strike="noStrike" cap="none">
              <a:solidFill>
                <a:schemeClr val="dk1"/>
              </a:solidFill>
              <a:latin typeface="Calibri"/>
              <a:ea typeface="Calibri"/>
              <a:cs typeface="Calibri"/>
              <a:sym typeface="Calibri"/>
            </a:endParaRPr>
          </a:p>
        </p:txBody>
      </p:sp>
      <p:sp>
        <p:nvSpPr>
          <p:cNvPr id="118" name="Google Shape;118;p7"/>
          <p:cNvSpPr/>
          <p:nvPr/>
        </p:nvSpPr>
        <p:spPr>
          <a:xfrm>
            <a:off x="7772400" y="3383280"/>
            <a:ext cx="365760" cy="365760"/>
          </a:xfrm>
          <a:prstGeom prst="rightArrow">
            <a:avLst>
              <a:gd name="adj1" fmla="val 50000"/>
              <a:gd name="adj2" fmla="val 50000"/>
            </a:avLst>
          </a:prstGeom>
          <a:solidFill>
            <a:srgbClr val="EC5F99"/>
          </a:solidFill>
          <a:ln w="12700" cap="flat" cmpd="sng">
            <a:solidFill>
              <a:srgbClr val="EC5F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7"/>
          <p:cNvSpPr/>
          <p:nvPr/>
        </p:nvSpPr>
        <p:spPr>
          <a:xfrm>
            <a:off x="8046720" y="1645920"/>
            <a:ext cx="3429000" cy="3840480"/>
          </a:xfrm>
          <a:prstGeom prst="roundRect">
            <a:avLst>
              <a:gd name="adj" fmla="val 6667"/>
            </a:avLst>
          </a:prstGeom>
          <a:solidFill>
            <a:srgbClr val="DCF5EA"/>
          </a:solidFill>
          <a:ln w="12700" cap="flat" cmpd="sng">
            <a:solidFill>
              <a:srgbClr val="DCF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7"/>
          <p:cNvSpPr txBox="1"/>
          <p:nvPr/>
        </p:nvSpPr>
        <p:spPr>
          <a:xfrm>
            <a:off x="8046720" y="1920240"/>
            <a:ext cx="342900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3400"/>
              <a:buFont typeface="Fredoka"/>
              <a:buNone/>
            </a:pPr>
            <a:r>
              <a:rPr lang="en-US" sz="3400" b="1" i="0" u="none" strike="noStrike" cap="none">
                <a:solidFill>
                  <a:srgbClr val="C93D7A"/>
                </a:solidFill>
                <a:latin typeface="Fredoka"/>
                <a:ea typeface="Fredoka"/>
                <a:cs typeface="Fredoka"/>
                <a:sym typeface="Fredoka"/>
              </a:rPr>
              <a:t>Months 6–12</a:t>
            </a:r>
            <a:endParaRPr sz="3400" b="0" i="0" u="none" strike="noStrike" cap="none">
              <a:solidFill>
                <a:schemeClr val="dk1"/>
              </a:solidFill>
              <a:latin typeface="Calibri"/>
              <a:ea typeface="Calibri"/>
              <a:cs typeface="Calibri"/>
              <a:sym typeface="Calibri"/>
            </a:endParaRPr>
          </a:p>
        </p:txBody>
      </p:sp>
      <p:sp>
        <p:nvSpPr>
          <p:cNvPr id="121" name="Google Shape;121;p7"/>
          <p:cNvSpPr txBox="1"/>
          <p:nvPr/>
        </p:nvSpPr>
        <p:spPr>
          <a:xfrm>
            <a:off x="8321040" y="2743200"/>
            <a:ext cx="2880360" cy="2560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Design challenges and craft store partners</a:t>
            </a:r>
            <a:endParaRPr sz="30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Shape 126"/>
        <p:cNvGrpSpPr/>
        <p:nvPr/>
      </p:nvGrpSpPr>
      <p:grpSpPr>
        <a:xfrm>
          <a:off x="0" y="0"/>
          <a:ext cx="0" cy="0"/>
          <a:chOff x="0" y="0"/>
          <a:chExt cx="0" cy="0"/>
        </a:xfrm>
      </p:grpSpPr>
      <p:sp>
        <p:nvSpPr>
          <p:cNvPr id="127" name="Google Shape;127;p8"/>
          <p:cNvSpPr txBox="1"/>
          <p:nvPr/>
        </p:nvSpPr>
        <p:spPr>
          <a:xfrm>
            <a:off x="640080" y="457200"/>
            <a:ext cx="108813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3D7A"/>
              </a:buClr>
              <a:buSzPts val="4400"/>
              <a:buFont typeface="Fredoka"/>
              <a:buNone/>
            </a:pPr>
            <a:r>
              <a:rPr lang="en-US" sz="4400" b="1" i="0" u="none" strike="noStrike" cap="none">
                <a:solidFill>
                  <a:srgbClr val="C93D7A"/>
                </a:solidFill>
                <a:latin typeface="Fredoka"/>
                <a:ea typeface="Fredoka"/>
                <a:cs typeface="Fredoka"/>
                <a:sym typeface="Fredoka"/>
              </a:rPr>
              <a:t>Competition</a:t>
            </a:r>
            <a:endParaRPr sz="4400" b="0" i="0" u="none" strike="noStrike" cap="none">
              <a:solidFill>
                <a:schemeClr val="dk1"/>
              </a:solidFill>
              <a:latin typeface="Calibri"/>
              <a:ea typeface="Calibri"/>
              <a:cs typeface="Calibri"/>
              <a:sym typeface="Calibri"/>
            </a:endParaRPr>
          </a:p>
        </p:txBody>
      </p:sp>
      <p:graphicFrame>
        <p:nvGraphicFramePr>
          <p:cNvPr id="128" name="Google Shape;128;p8"/>
          <p:cNvGraphicFramePr/>
          <p:nvPr/>
        </p:nvGraphicFramePr>
        <p:xfrm>
          <a:off x="594360" y="1508760"/>
          <a:ext cx="10972800" cy="4687760"/>
        </p:xfrm>
        <a:graphic>
          <a:graphicData uri="http://schemas.openxmlformats.org/drawingml/2006/table">
            <a:tbl>
              <a:tblPr>
                <a:noFill/>
                <a:tableStyleId>{862D4F14-6840-463C-8D20-70412F0C52B0}</a:tableStyleId>
              </a:tblPr>
              <a:tblGrid>
                <a:gridCol w="2743200">
                  <a:extLst>
                    <a:ext uri="{9D8B030D-6E8A-4147-A177-3AD203B41FA5}">
                      <a16:colId xmlns:a16="http://schemas.microsoft.com/office/drawing/2014/main" val="20000"/>
                    </a:ext>
                  </a:extLst>
                </a:gridCol>
                <a:gridCol w="1463050">
                  <a:extLst>
                    <a:ext uri="{9D8B030D-6E8A-4147-A177-3AD203B41FA5}">
                      <a16:colId xmlns:a16="http://schemas.microsoft.com/office/drawing/2014/main" val="20001"/>
                    </a:ext>
                  </a:extLst>
                </a:gridCol>
                <a:gridCol w="1737350">
                  <a:extLst>
                    <a:ext uri="{9D8B030D-6E8A-4147-A177-3AD203B41FA5}">
                      <a16:colId xmlns:a16="http://schemas.microsoft.com/office/drawing/2014/main" val="20002"/>
                    </a:ext>
                  </a:extLst>
                </a:gridCol>
                <a:gridCol w="1554475">
                  <a:extLst>
                    <a:ext uri="{9D8B030D-6E8A-4147-A177-3AD203B41FA5}">
                      <a16:colId xmlns:a16="http://schemas.microsoft.com/office/drawing/2014/main" val="20003"/>
                    </a:ext>
                  </a:extLst>
                </a:gridCol>
                <a:gridCol w="2011675">
                  <a:extLst>
                    <a:ext uri="{9D8B030D-6E8A-4147-A177-3AD203B41FA5}">
                      <a16:colId xmlns:a16="http://schemas.microsoft.com/office/drawing/2014/main" val="20004"/>
                    </a:ext>
                  </a:extLst>
                </a:gridCol>
                <a:gridCol w="1463050">
                  <a:extLst>
                    <a:ext uri="{9D8B030D-6E8A-4147-A177-3AD203B41FA5}">
                      <a16:colId xmlns:a16="http://schemas.microsoft.com/office/drawing/2014/main" val="20005"/>
                    </a:ext>
                  </a:extLst>
                </a:gridCol>
              </a:tblGrid>
              <a:tr h="530350">
                <a:tc>
                  <a:txBody>
                    <a:bodyPr/>
                    <a:lstStyle/>
                    <a:p>
                      <a:pPr marL="0" marR="0" lvl="0" indent="0" algn="l" rtl="0">
                        <a:spcBef>
                          <a:spcPts val="0"/>
                        </a:spcBef>
                        <a:spcAft>
                          <a:spcPts val="0"/>
                        </a:spcAft>
                        <a:buClr>
                          <a:srgbClr val="FFFFFF"/>
                        </a:buClr>
                        <a:buSzPts val="1700"/>
                        <a:buFont typeface="Nunito"/>
                        <a:buNone/>
                      </a:pPr>
                      <a:r>
                        <a:rPr lang="en-US" sz="1700" b="1" u="none" strike="noStrike" cap="none">
                          <a:solidFill>
                            <a:srgbClr val="FFFFFF"/>
                          </a:solidFill>
                          <a:latin typeface="Nunito"/>
                          <a:ea typeface="Nunito"/>
                          <a:cs typeface="Nunito"/>
                          <a:sym typeface="Nunito"/>
                        </a:rPr>
                        <a:t>Feature</a:t>
                      </a:r>
                      <a:endParaRPr sz="17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3B2F3A"/>
                    </a:solidFill>
                  </a:tcPr>
                </a:tc>
                <a:tc>
                  <a:txBody>
                    <a:bodyPr/>
                    <a:lstStyle/>
                    <a:p>
                      <a:pPr marL="0" marR="0" lvl="0" indent="0" algn="ctr" rtl="0">
                        <a:spcBef>
                          <a:spcPts val="0"/>
                        </a:spcBef>
                        <a:spcAft>
                          <a:spcPts val="0"/>
                        </a:spcAft>
                        <a:buClr>
                          <a:srgbClr val="FFFFFF"/>
                        </a:buClr>
                        <a:buSzPts val="1700"/>
                        <a:buFont typeface="Nunito"/>
                        <a:buNone/>
                      </a:pPr>
                      <a:r>
                        <a:rPr lang="en-US" sz="1700" b="1" u="none" strike="noStrike" cap="none">
                          <a:solidFill>
                            <a:srgbClr val="FFFFFF"/>
                          </a:solidFill>
                          <a:latin typeface="Nunito"/>
                          <a:ea typeface="Nunito"/>
                          <a:cs typeface="Nunito"/>
                          <a:sym typeface="Nunito"/>
                        </a:rPr>
                        <a:t>Us</a:t>
                      </a:r>
                      <a:endParaRPr sz="17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EC5F99"/>
                    </a:solidFill>
                  </a:tcPr>
                </a:tc>
                <a:tc>
                  <a:txBody>
                    <a:bodyPr/>
                    <a:lstStyle/>
                    <a:p>
                      <a:pPr marL="0" marR="0" lvl="0" indent="0" algn="ctr" rtl="0">
                        <a:spcBef>
                          <a:spcPts val="0"/>
                        </a:spcBef>
                        <a:spcAft>
                          <a:spcPts val="0"/>
                        </a:spcAft>
                        <a:buClr>
                          <a:srgbClr val="FFFFFF"/>
                        </a:buClr>
                        <a:buSzPts val="1700"/>
                        <a:buFont typeface="Nunito"/>
                        <a:buNone/>
                      </a:pPr>
                      <a:r>
                        <a:rPr lang="en-US" sz="1700" b="1" u="none" strike="noStrike" cap="none">
                          <a:solidFill>
                            <a:srgbClr val="FFFFFF"/>
                          </a:solidFill>
                          <a:latin typeface="Nunito"/>
                          <a:ea typeface="Nunito"/>
                          <a:cs typeface="Nunito"/>
                          <a:sym typeface="Nunito"/>
                        </a:rPr>
                        <a:t>BraceletBook</a:t>
                      </a:r>
                      <a:endParaRPr sz="17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3B2F3A"/>
                    </a:solidFill>
                  </a:tcPr>
                </a:tc>
                <a:tc>
                  <a:txBody>
                    <a:bodyPr/>
                    <a:lstStyle/>
                    <a:p>
                      <a:pPr marL="0" marR="0" lvl="0" indent="0" algn="ctr" rtl="0">
                        <a:spcBef>
                          <a:spcPts val="0"/>
                        </a:spcBef>
                        <a:spcAft>
                          <a:spcPts val="0"/>
                        </a:spcAft>
                        <a:buClr>
                          <a:srgbClr val="FFFFFF"/>
                        </a:buClr>
                        <a:buSzPts val="1700"/>
                        <a:buFont typeface="Nunito"/>
                        <a:buNone/>
                      </a:pPr>
                      <a:r>
                        <a:rPr lang="en-US" sz="1700" b="1" u="none" strike="noStrike" cap="none">
                          <a:solidFill>
                            <a:srgbClr val="FFFFFF"/>
                          </a:solidFill>
                          <a:latin typeface="Nunito"/>
                          <a:ea typeface="Nunito"/>
                          <a:cs typeface="Nunito"/>
                          <a:sym typeface="Nunito"/>
                        </a:rPr>
                        <a:t>Codecraft</a:t>
                      </a:r>
                      <a:endParaRPr sz="17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3B2F3A"/>
                    </a:solidFill>
                  </a:tcPr>
                </a:tc>
                <a:tc>
                  <a:txBody>
                    <a:bodyPr/>
                    <a:lstStyle/>
                    <a:p>
                      <a:pPr marL="0" marR="0" lvl="0" indent="0" algn="ctr" rtl="0">
                        <a:spcBef>
                          <a:spcPts val="0"/>
                        </a:spcBef>
                        <a:spcAft>
                          <a:spcPts val="0"/>
                        </a:spcAft>
                        <a:buClr>
                          <a:srgbClr val="FFFFFF"/>
                        </a:buClr>
                        <a:buSzPts val="1700"/>
                        <a:buFont typeface="Nunito"/>
                        <a:buNone/>
                      </a:pPr>
                      <a:r>
                        <a:rPr lang="en-US" sz="1700" b="1" u="none" strike="noStrike" cap="none">
                          <a:solidFill>
                            <a:srgbClr val="FFFFFF"/>
                          </a:solidFill>
                          <a:latin typeface="Nunito"/>
                          <a:ea typeface="Nunito"/>
                          <a:cs typeface="Nunito"/>
                          <a:sym typeface="Nunito"/>
                        </a:rPr>
                        <a:t>Friendship Bracelets Pro</a:t>
                      </a:r>
                      <a:endParaRPr sz="17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3B2F3A"/>
                    </a:solidFill>
                  </a:tcPr>
                </a:tc>
                <a:tc>
                  <a:txBody>
                    <a:bodyPr/>
                    <a:lstStyle/>
                    <a:p>
                      <a:pPr marL="0" marR="0" lvl="0" indent="0" algn="ctr" rtl="0">
                        <a:spcBef>
                          <a:spcPts val="0"/>
                        </a:spcBef>
                        <a:spcAft>
                          <a:spcPts val="0"/>
                        </a:spcAft>
                        <a:buClr>
                          <a:srgbClr val="FFFFFF"/>
                        </a:buClr>
                        <a:buSzPts val="1700"/>
                        <a:buFont typeface="Nunito"/>
                        <a:buNone/>
                      </a:pPr>
                      <a:r>
                        <a:rPr lang="en-US" sz="1700" b="1" u="none" strike="noStrike" cap="none">
                          <a:solidFill>
                            <a:srgbClr val="FFFFFF"/>
                          </a:solidFill>
                          <a:latin typeface="Nunito"/>
                          <a:ea typeface="Nunito"/>
                          <a:cs typeface="Nunito"/>
                          <a:sym typeface="Nunito"/>
                        </a:rPr>
                        <a:t>MakeBead</a:t>
                      </a:r>
                      <a:endParaRPr sz="17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3B2F3A"/>
                    </a:solidFill>
                  </a:tcPr>
                </a:tc>
                <a:extLst>
                  <a:ext uri="{0D108BD9-81ED-4DB2-BD59-A6C34878D82A}">
                    <a16:rowId xmlns:a16="http://schemas.microsoft.com/office/drawing/2014/main" val="10000"/>
                  </a:ext>
                </a:extLst>
              </a:tr>
              <a:tr h="530350">
                <a:tc>
                  <a:txBody>
                    <a:bodyPr/>
                    <a:lstStyle/>
                    <a:p>
                      <a:pPr marL="0" marR="0" lvl="0" indent="0" algn="l" rtl="0">
                        <a:spcBef>
                          <a:spcPts val="0"/>
                        </a:spcBef>
                        <a:spcAft>
                          <a:spcPts val="0"/>
                        </a:spcAft>
                        <a:buClr>
                          <a:srgbClr val="3B2F3A"/>
                        </a:buClr>
                        <a:buSzPts val="2000"/>
                        <a:buFont typeface="Nunito"/>
                        <a:buNone/>
                      </a:pPr>
                      <a:r>
                        <a:rPr lang="en-US" sz="2000" u="none" strike="noStrike" cap="none">
                          <a:solidFill>
                            <a:srgbClr val="3B2F3A"/>
                          </a:solidFill>
                          <a:latin typeface="Nunito"/>
                          <a:ea typeface="Nunito"/>
                          <a:cs typeface="Nunito"/>
                          <a:sym typeface="Nunito"/>
                        </a:rPr>
                        <a:t>Works in browser</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E9E6B"/>
                        </a:buClr>
                        <a:buSzPts val="2000"/>
                        <a:buFont typeface="Nunito"/>
                        <a:buNone/>
                      </a:pPr>
                      <a:r>
                        <a:rPr lang="en-US" sz="2000" b="1"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E6F0"/>
                    </a:solidFill>
                  </a:tcPr>
                </a:tc>
                <a:tc>
                  <a:txBody>
                    <a:bodyPr/>
                    <a:lstStyle/>
                    <a:p>
                      <a:pPr marL="0" marR="0" lvl="0" indent="0" algn="ctr" rtl="0">
                        <a:spcBef>
                          <a:spcPts val="0"/>
                        </a:spcBef>
                        <a:spcAft>
                          <a:spcPts val="0"/>
                        </a:spcAft>
                        <a:buClr>
                          <a:srgbClr val="2E9E6B"/>
                        </a:buClr>
                        <a:buSzPts val="2000"/>
                        <a:buFont typeface="Nunito"/>
                        <a:buNone/>
                      </a:pPr>
                      <a:r>
                        <a:rPr lang="en-US" sz="2000"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E9E6B"/>
                        </a:buClr>
                        <a:buSzPts val="2000"/>
                        <a:buFont typeface="Nunito"/>
                        <a:buNone/>
                      </a:pPr>
                      <a:r>
                        <a:rPr lang="en-US" sz="2000"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30350">
                <a:tc>
                  <a:txBody>
                    <a:bodyPr/>
                    <a:lstStyle/>
                    <a:p>
                      <a:pPr marL="0" marR="0" lvl="0" indent="0" algn="l" rtl="0">
                        <a:spcBef>
                          <a:spcPts val="0"/>
                        </a:spcBef>
                        <a:spcAft>
                          <a:spcPts val="0"/>
                        </a:spcAft>
                        <a:buClr>
                          <a:srgbClr val="3B2F3A"/>
                        </a:buClr>
                        <a:buSzPts val="2000"/>
                        <a:buFont typeface="Nunito"/>
                        <a:buNone/>
                      </a:pPr>
                      <a:r>
                        <a:rPr lang="en-US" sz="2000" u="none" strike="noStrike" cap="none">
                          <a:solidFill>
                            <a:srgbClr val="3B2F3A"/>
                          </a:solidFill>
                          <a:latin typeface="Nunito"/>
                          <a:ea typeface="Nunito"/>
                          <a:cs typeface="Nunito"/>
                          <a:sym typeface="Nunito"/>
                        </a:rPr>
                        <a:t>Create patterns in the app</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E9E6B"/>
                        </a:buClr>
                        <a:buSzPts val="2000"/>
                        <a:buFont typeface="Nunito"/>
                        <a:buNone/>
                      </a:pPr>
                      <a:r>
                        <a:rPr lang="en-US" sz="2000" b="1"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E6F0"/>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E9E6B"/>
                        </a:buClr>
                        <a:buSzPts val="2000"/>
                        <a:buFont typeface="Nunito"/>
                        <a:buNone/>
                      </a:pPr>
                      <a:r>
                        <a:rPr lang="en-US" sz="2000"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E9E6B"/>
                        </a:buClr>
                        <a:buSzPts val="2000"/>
                        <a:buFont typeface="Nunito"/>
                        <a:buNone/>
                      </a:pPr>
                      <a:r>
                        <a:rPr lang="en-US" sz="2000"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30350">
                <a:tc>
                  <a:txBody>
                    <a:bodyPr/>
                    <a:lstStyle/>
                    <a:p>
                      <a:pPr marL="0" marR="0" lvl="0" indent="0" algn="l" rtl="0">
                        <a:spcBef>
                          <a:spcPts val="0"/>
                        </a:spcBef>
                        <a:spcAft>
                          <a:spcPts val="0"/>
                        </a:spcAft>
                        <a:buClr>
                          <a:srgbClr val="3B2F3A"/>
                        </a:buClr>
                        <a:buSzPts val="2000"/>
                        <a:buFont typeface="Nunito"/>
                        <a:buNone/>
                      </a:pPr>
                      <a:r>
                        <a:rPr lang="en-US" sz="2000" u="none" strike="noStrike" cap="none">
                          <a:solidFill>
                            <a:srgbClr val="3B2F3A"/>
                          </a:solidFill>
                          <a:latin typeface="Nunito"/>
                          <a:ea typeface="Nunito"/>
                          <a:cs typeface="Nunito"/>
                          <a:sym typeface="Nunito"/>
                        </a:rPr>
                        <a:t>Photo-to-pattern</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E9E6B"/>
                        </a:buClr>
                        <a:buSzPts val="2000"/>
                        <a:buFont typeface="Nunito"/>
                        <a:buNone/>
                      </a:pPr>
                      <a:r>
                        <a:rPr lang="en-US" sz="2000" b="1"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E6F0"/>
                    </a:solidFill>
                  </a:tcPr>
                </a:tc>
                <a:tc>
                  <a:txBody>
                    <a:bodyPr/>
                    <a:lstStyle/>
                    <a:p>
                      <a:pPr marL="0" marR="0" lvl="0" indent="0" algn="ctr" rtl="0">
                        <a:spcBef>
                          <a:spcPts val="0"/>
                        </a:spcBef>
                        <a:spcAft>
                          <a:spcPts val="0"/>
                        </a:spcAft>
                        <a:buClr>
                          <a:srgbClr val="2E9E6B"/>
                        </a:buClr>
                        <a:buSzPts val="2000"/>
                        <a:buFont typeface="Nunito"/>
                        <a:buNone/>
                      </a:pPr>
                      <a:r>
                        <a:rPr lang="en-US" sz="2000"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E9E6B"/>
                        </a:buClr>
                        <a:buSzPts val="2000"/>
                        <a:buFont typeface="Nunito"/>
                        <a:buNone/>
                      </a:pPr>
                      <a:r>
                        <a:rPr lang="en-US" sz="2000"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30350">
                <a:tc>
                  <a:txBody>
                    <a:bodyPr/>
                    <a:lstStyle/>
                    <a:p>
                      <a:pPr marL="0" marR="0" lvl="0" indent="0" algn="l" rtl="0">
                        <a:spcBef>
                          <a:spcPts val="0"/>
                        </a:spcBef>
                        <a:spcAft>
                          <a:spcPts val="0"/>
                        </a:spcAft>
                        <a:buClr>
                          <a:srgbClr val="3B2F3A"/>
                        </a:buClr>
                        <a:buSzPts val="2000"/>
                        <a:buFont typeface="Nunito"/>
                        <a:buNone/>
                      </a:pPr>
                      <a:r>
                        <a:rPr lang="en-US" sz="2000" u="none" strike="noStrike" cap="none">
                          <a:solidFill>
                            <a:srgbClr val="3B2F3A"/>
                          </a:solidFill>
                          <a:latin typeface="Nunito"/>
                          <a:ea typeface="Nunito"/>
                          <a:cs typeface="Nunito"/>
                          <a:sym typeface="Nunito"/>
                        </a:rPr>
                        <a:t>String calculator</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E9E6B"/>
                        </a:buClr>
                        <a:buSzPts val="2000"/>
                        <a:buFont typeface="Nunito"/>
                        <a:buNone/>
                      </a:pPr>
                      <a:r>
                        <a:rPr lang="en-US" sz="2000" b="1"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E6F0"/>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E9E6B"/>
                        </a:buClr>
                        <a:buSzPts val="2000"/>
                        <a:buFont typeface="Nunito"/>
                        <a:buNone/>
                      </a:pPr>
                      <a:r>
                        <a:rPr lang="en-US" sz="2000"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Clr>
                          <a:srgbClr val="8A7A86"/>
                        </a:buClr>
                        <a:buSzPts val="2000"/>
                        <a:buFont typeface="Nunito"/>
                        <a:buNone/>
                      </a:pPr>
                      <a:r>
                        <a:rPr lang="en-US" sz="2000">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E9E6B"/>
                        </a:buClr>
                        <a:buSzPts val="2000"/>
                        <a:buFont typeface="Nunito"/>
                        <a:buNone/>
                      </a:pPr>
                      <a:r>
                        <a:rPr lang="en-US" sz="2000"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530350">
                <a:tc>
                  <a:txBody>
                    <a:bodyPr/>
                    <a:lstStyle/>
                    <a:p>
                      <a:pPr marL="0" marR="0" lvl="0" indent="0" algn="l" rtl="0">
                        <a:spcBef>
                          <a:spcPts val="0"/>
                        </a:spcBef>
                        <a:spcAft>
                          <a:spcPts val="0"/>
                        </a:spcAft>
                        <a:buClr>
                          <a:srgbClr val="3B2F3A"/>
                        </a:buClr>
                        <a:buSzPts val="2000"/>
                        <a:buFont typeface="Nunito"/>
                        <a:buNone/>
                      </a:pPr>
                      <a:r>
                        <a:rPr lang="en-US" sz="2000" u="none" strike="noStrike" cap="none">
                          <a:solidFill>
                            <a:srgbClr val="3B2F3A"/>
                          </a:solidFill>
                          <a:latin typeface="Nunito"/>
                          <a:ea typeface="Nunito"/>
                          <a:cs typeface="Nunito"/>
                          <a:sym typeface="Nunito"/>
                        </a:rPr>
                        <a:t>AI text-to-pattern</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E9E6B"/>
                        </a:buClr>
                        <a:buSzPts val="2000"/>
                        <a:buFont typeface="Nunito"/>
                        <a:buNone/>
                      </a:pPr>
                      <a:r>
                        <a:rPr lang="en-US" sz="2000" b="1"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E6F0"/>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530350">
                <a:tc>
                  <a:txBody>
                    <a:bodyPr/>
                    <a:lstStyle/>
                    <a:p>
                      <a:pPr marL="0" marR="0" lvl="0" indent="0" algn="l" rtl="0">
                        <a:spcBef>
                          <a:spcPts val="0"/>
                        </a:spcBef>
                        <a:spcAft>
                          <a:spcPts val="0"/>
                        </a:spcAft>
                        <a:buClr>
                          <a:srgbClr val="3B2F3A"/>
                        </a:buClr>
                        <a:buSzPts val="2000"/>
                        <a:buFont typeface="Nunito"/>
                        <a:buNone/>
                      </a:pPr>
                      <a:r>
                        <a:rPr lang="en-US" sz="2000" u="none" strike="noStrike" cap="none">
                          <a:solidFill>
                            <a:srgbClr val="3B2F3A"/>
                          </a:solidFill>
                          <a:latin typeface="Nunito"/>
                          <a:ea typeface="Nunito"/>
                          <a:cs typeface="Nunito"/>
                          <a:sym typeface="Nunito"/>
                        </a:rPr>
                        <a:t>Share and browse patterns</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E9E6B"/>
                        </a:buClr>
                        <a:buSzPts val="2000"/>
                        <a:buFont typeface="Nunito"/>
                        <a:buNone/>
                      </a:pPr>
                      <a:r>
                        <a:rPr lang="en-US" sz="2000" b="1"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E6F0"/>
                    </a:solidFill>
                  </a:tcPr>
                </a:tc>
                <a:tc>
                  <a:txBody>
                    <a:bodyPr/>
                    <a:lstStyle/>
                    <a:p>
                      <a:pPr marL="0" marR="0" lvl="0" indent="0" algn="ctr" rtl="0">
                        <a:spcBef>
                          <a:spcPts val="0"/>
                        </a:spcBef>
                        <a:spcAft>
                          <a:spcPts val="0"/>
                        </a:spcAft>
                        <a:buClr>
                          <a:srgbClr val="2E9E6B"/>
                        </a:buClr>
                        <a:buSzPts val="2000"/>
                        <a:buFont typeface="Nunito"/>
                        <a:buNone/>
                      </a:pPr>
                      <a:r>
                        <a:rPr lang="en-US" sz="2000" u="none" strike="noStrike" cap="none">
                          <a:solidFill>
                            <a:srgbClr val="2E9E6B"/>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530350">
                <a:tc>
                  <a:txBody>
                    <a:bodyPr/>
                    <a:lstStyle/>
                    <a:p>
                      <a:pPr marL="0" marR="0" lvl="0" indent="0" algn="l" rtl="0">
                        <a:spcBef>
                          <a:spcPts val="0"/>
                        </a:spcBef>
                        <a:spcAft>
                          <a:spcPts val="0"/>
                        </a:spcAft>
                        <a:buClr>
                          <a:srgbClr val="3B2F3A"/>
                        </a:buClr>
                        <a:buSzPts val="2000"/>
                        <a:buFont typeface="Nunito"/>
                        <a:buNone/>
                      </a:pPr>
                      <a:r>
                        <a:rPr lang="en-US" sz="2000" u="none" strike="noStrike" cap="none">
                          <a:solidFill>
                            <a:srgbClr val="3B2F3A"/>
                          </a:solidFill>
                          <a:latin typeface="Nunito"/>
                          <a:ea typeface="Nunito"/>
                          <a:cs typeface="Nunito"/>
                          <a:sym typeface="Nunito"/>
                        </a:rPr>
                        <a:t>Library size</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2000"/>
                        <a:buFont typeface="Nunito"/>
                        <a:buNone/>
                      </a:pPr>
                      <a:r>
                        <a:rPr lang="en-US" sz="2000" b="1" u="none" strike="noStrike" cap="none">
                          <a:solidFill>
                            <a:srgbClr val="3B2F3A"/>
                          </a:solidFill>
                          <a:latin typeface="Nunito"/>
                          <a:ea typeface="Nunito"/>
                          <a:cs typeface="Nunito"/>
                          <a:sym typeface="Nunito"/>
                        </a:rPr>
                        <a:t>Small at launch</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E6F0"/>
                    </a:solidFill>
                  </a:tcPr>
                </a:tc>
                <a:tc>
                  <a:txBody>
                    <a:bodyPr/>
                    <a:lstStyle/>
                    <a:p>
                      <a:pPr marL="0" marR="0" lvl="0" indent="0" algn="ctr" rtl="0">
                        <a:spcBef>
                          <a:spcPts val="0"/>
                        </a:spcBef>
                        <a:spcAft>
                          <a:spcPts val="0"/>
                        </a:spcAft>
                        <a:buClr>
                          <a:srgbClr val="3B2F3A"/>
                        </a:buClr>
                        <a:buSzPts val="2000"/>
                        <a:buFont typeface="Nunito"/>
                        <a:buNone/>
                      </a:pPr>
                      <a:r>
                        <a:rPr lang="en-US" sz="2000" u="none" strike="noStrike" cap="none">
                          <a:solidFill>
                            <a:srgbClr val="3B2F3A"/>
                          </a:solidFill>
                          <a:latin typeface="Nunito"/>
                          <a:ea typeface="Nunito"/>
                          <a:cs typeface="Nunito"/>
                          <a:sym typeface="Nunito"/>
                        </a:rPr>
                        <a:t>~218,000</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8A7A86"/>
                        </a:buClr>
                        <a:buSzPts val="2000"/>
                        <a:buFont typeface="Nunito"/>
                        <a:buNone/>
                      </a:pPr>
                      <a:r>
                        <a:rPr lang="en-US" sz="2000" u="none" strike="noStrike" cap="none">
                          <a:solidFill>
                            <a:srgbClr val="8A7A86"/>
                          </a:solidFill>
                          <a:latin typeface="Nunito"/>
                          <a:ea typeface="Nunito"/>
                          <a:cs typeface="Nunito"/>
                          <a:sym typeface="Nunito"/>
                        </a:rPr>
                        <a:t>✗</a:t>
                      </a:r>
                      <a:endParaRPr sz="2000" u="none" strike="noStrike" cap="none">
                        <a:latin typeface="Nunito"/>
                        <a:ea typeface="Nunito"/>
                        <a:cs typeface="Nunito"/>
                        <a:sym typeface="Nunito"/>
                      </a:endParaRPr>
                    </a:p>
                  </a:txBody>
                  <a:tcPr marL="54875" marR="5487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Shape 133"/>
        <p:cNvGrpSpPr/>
        <p:nvPr/>
      </p:nvGrpSpPr>
      <p:grpSpPr>
        <a:xfrm>
          <a:off x="0" y="0"/>
          <a:ext cx="0" cy="0"/>
          <a:chOff x="0" y="0"/>
          <a:chExt cx="0" cy="0"/>
        </a:xfrm>
      </p:grpSpPr>
      <p:sp>
        <p:nvSpPr>
          <p:cNvPr id="134" name="Google Shape;134;h2ec1715e373c5062_2_0"/>
          <p:cNvSpPr txBox="1"/>
          <p:nvPr/>
        </p:nvSpPr>
        <p:spPr>
          <a:xfrm>
            <a:off x="640080" y="457200"/>
            <a:ext cx="108813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3D7A"/>
              </a:buClr>
              <a:buSzPts val="4400"/>
              <a:buFont typeface="Fredoka"/>
              <a:buNone/>
            </a:pPr>
            <a:r>
              <a:rPr lang="en-US" sz="4400" b="1" i="0" u="none" strike="noStrike" cap="none">
                <a:solidFill>
                  <a:srgbClr val="C93D7A"/>
                </a:solidFill>
                <a:latin typeface="Fredoka"/>
                <a:ea typeface="Fredoka"/>
                <a:cs typeface="Fredoka"/>
                <a:sym typeface="Fredoka"/>
              </a:rPr>
              <a:t>Financial projections</a:t>
            </a:r>
            <a:endParaRPr sz="4400" b="0" i="0" u="none" strike="noStrike" cap="none">
              <a:solidFill>
                <a:schemeClr val="dk1"/>
              </a:solidFill>
              <a:latin typeface="Calibri"/>
              <a:ea typeface="Calibri"/>
              <a:cs typeface="Calibri"/>
              <a:sym typeface="Calibri"/>
            </a:endParaRPr>
          </a:p>
        </p:txBody>
      </p:sp>
      <p:graphicFrame>
        <p:nvGraphicFramePr>
          <p:cNvPr id="135" name="Google Shape;135;h2ec1715e373c5062_2_0"/>
          <p:cNvGraphicFramePr/>
          <p:nvPr/>
        </p:nvGraphicFramePr>
        <p:xfrm>
          <a:off x="460821" y="1828800"/>
          <a:ext cx="11188675" cy="4069075"/>
        </p:xfrm>
        <a:graphic>
          <a:graphicData uri="http://schemas.openxmlformats.org/drawingml/2006/table">
            <a:tbl>
              <a:tblPr>
                <a:noFill/>
                <a:tableStyleId>{862D4F14-6840-463C-8D20-70412F0C52B0}</a:tableStyleId>
              </a:tblPr>
              <a:tblGrid>
                <a:gridCol w="782750">
                  <a:extLst>
                    <a:ext uri="{9D8B030D-6E8A-4147-A177-3AD203B41FA5}">
                      <a16:colId xmlns:a16="http://schemas.microsoft.com/office/drawing/2014/main" val="20000"/>
                    </a:ext>
                  </a:extLst>
                </a:gridCol>
                <a:gridCol w="966925">
                  <a:extLst>
                    <a:ext uri="{9D8B030D-6E8A-4147-A177-3AD203B41FA5}">
                      <a16:colId xmlns:a16="http://schemas.microsoft.com/office/drawing/2014/main" val="20001"/>
                    </a:ext>
                  </a:extLst>
                </a:gridCol>
                <a:gridCol w="1105050">
                  <a:extLst>
                    <a:ext uri="{9D8B030D-6E8A-4147-A177-3AD203B41FA5}">
                      <a16:colId xmlns:a16="http://schemas.microsoft.com/office/drawing/2014/main" val="20002"/>
                    </a:ext>
                  </a:extLst>
                </a:gridCol>
                <a:gridCol w="966925">
                  <a:extLst>
                    <a:ext uri="{9D8B030D-6E8A-4147-A177-3AD203B41FA5}">
                      <a16:colId xmlns:a16="http://schemas.microsoft.com/office/drawing/2014/main" val="20003"/>
                    </a:ext>
                  </a:extLst>
                </a:gridCol>
                <a:gridCol w="736700">
                  <a:extLst>
                    <a:ext uri="{9D8B030D-6E8A-4147-A177-3AD203B41FA5}">
                      <a16:colId xmlns:a16="http://schemas.microsoft.com/office/drawing/2014/main" val="20004"/>
                    </a:ext>
                  </a:extLst>
                </a:gridCol>
                <a:gridCol w="874825">
                  <a:extLst>
                    <a:ext uri="{9D8B030D-6E8A-4147-A177-3AD203B41FA5}">
                      <a16:colId xmlns:a16="http://schemas.microsoft.com/office/drawing/2014/main" val="20005"/>
                    </a:ext>
                  </a:extLst>
                </a:gridCol>
                <a:gridCol w="920875">
                  <a:extLst>
                    <a:ext uri="{9D8B030D-6E8A-4147-A177-3AD203B41FA5}">
                      <a16:colId xmlns:a16="http://schemas.microsoft.com/office/drawing/2014/main" val="20006"/>
                    </a:ext>
                  </a:extLst>
                </a:gridCol>
                <a:gridCol w="1105050">
                  <a:extLst>
                    <a:ext uri="{9D8B030D-6E8A-4147-A177-3AD203B41FA5}">
                      <a16:colId xmlns:a16="http://schemas.microsoft.com/office/drawing/2014/main" val="20007"/>
                    </a:ext>
                  </a:extLst>
                </a:gridCol>
                <a:gridCol w="1012975">
                  <a:extLst>
                    <a:ext uri="{9D8B030D-6E8A-4147-A177-3AD203B41FA5}">
                      <a16:colId xmlns:a16="http://schemas.microsoft.com/office/drawing/2014/main" val="20008"/>
                    </a:ext>
                  </a:extLst>
                </a:gridCol>
                <a:gridCol w="782750">
                  <a:extLst>
                    <a:ext uri="{9D8B030D-6E8A-4147-A177-3AD203B41FA5}">
                      <a16:colId xmlns:a16="http://schemas.microsoft.com/office/drawing/2014/main" val="20009"/>
                    </a:ext>
                  </a:extLst>
                </a:gridCol>
                <a:gridCol w="966925">
                  <a:extLst>
                    <a:ext uri="{9D8B030D-6E8A-4147-A177-3AD203B41FA5}">
                      <a16:colId xmlns:a16="http://schemas.microsoft.com/office/drawing/2014/main" val="20010"/>
                    </a:ext>
                  </a:extLst>
                </a:gridCol>
                <a:gridCol w="966925">
                  <a:extLst>
                    <a:ext uri="{9D8B030D-6E8A-4147-A177-3AD203B41FA5}">
                      <a16:colId xmlns:a16="http://schemas.microsoft.com/office/drawing/2014/main" val="20011"/>
                    </a:ext>
                  </a:extLst>
                </a:gridCol>
              </a:tblGrid>
              <a:tr h="548650">
                <a:tc>
                  <a:txBody>
                    <a:bodyPr/>
                    <a:lstStyle/>
                    <a:p>
                      <a:pPr marL="0" marR="0" lvl="0" indent="0" algn="ctr" rtl="0">
                        <a:spcBef>
                          <a:spcPts val="0"/>
                        </a:spcBef>
                        <a:spcAft>
                          <a:spcPts val="0"/>
                        </a:spcAft>
                        <a:buClr>
                          <a:schemeClr val="dk1"/>
                        </a:buClr>
                        <a:buSzPts val="1400"/>
                        <a:buFont typeface="Calibri"/>
                        <a:buNone/>
                      </a:pP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9F5"/>
                    </a:solidFill>
                  </a:tcPr>
                </a:tc>
                <a:tc gridSpan="3">
                  <a:txBody>
                    <a:bodyPr/>
                    <a:lstStyle/>
                    <a:p>
                      <a:pPr marL="0" marR="0" lvl="0" indent="0" algn="ctr" rtl="0">
                        <a:spcBef>
                          <a:spcPts val="0"/>
                        </a:spcBef>
                        <a:spcAft>
                          <a:spcPts val="0"/>
                        </a:spcAft>
                        <a:buClr>
                          <a:srgbClr val="FFFFFF"/>
                        </a:buClr>
                        <a:buSzPts val="1800"/>
                        <a:buFont typeface="Nunito"/>
                        <a:buNone/>
                      </a:pPr>
                      <a:r>
                        <a:rPr lang="en-US" sz="1800" b="1" u="none" strike="noStrike" cap="none">
                          <a:solidFill>
                            <a:srgbClr val="FFFFFF"/>
                          </a:solidFill>
                          <a:latin typeface="Nunito"/>
                          <a:ea typeface="Nunito"/>
                          <a:cs typeface="Nunito"/>
                          <a:sym typeface="Nunito"/>
                        </a:rPr>
                        <a:t>Revenue</a:t>
                      </a:r>
                      <a:endParaRPr sz="18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C93D7A"/>
                    </a:solidFill>
                  </a:tcPr>
                </a:tc>
                <a:tc hMerge="1">
                  <a:txBody>
                    <a:bodyPr/>
                    <a:lstStyle/>
                    <a:p>
                      <a:endParaRPr lang="en-US"/>
                    </a:p>
                  </a:txBody>
                  <a:tcPr/>
                </a:tc>
                <a:tc hMerge="1">
                  <a:txBody>
                    <a:bodyPr/>
                    <a:lstStyle/>
                    <a:p>
                      <a:endParaRPr lang="en-US"/>
                    </a:p>
                  </a:txBody>
                  <a:tcPr/>
                </a:tc>
                <a:tc gridSpan="7">
                  <a:txBody>
                    <a:bodyPr/>
                    <a:lstStyle/>
                    <a:p>
                      <a:pPr marL="0" marR="0" lvl="0" indent="0" algn="ctr" rtl="0">
                        <a:spcBef>
                          <a:spcPts val="0"/>
                        </a:spcBef>
                        <a:spcAft>
                          <a:spcPts val="0"/>
                        </a:spcAft>
                        <a:buClr>
                          <a:srgbClr val="FFFFFF"/>
                        </a:buClr>
                        <a:buSzPts val="1800"/>
                        <a:buFont typeface="Nunito"/>
                        <a:buNone/>
                      </a:pPr>
                      <a:r>
                        <a:rPr lang="en-US" sz="1800" b="1" u="none" strike="noStrike" cap="none">
                          <a:solidFill>
                            <a:srgbClr val="FFFFFF"/>
                          </a:solidFill>
                          <a:latin typeface="Nunito"/>
                          <a:ea typeface="Nunito"/>
                          <a:cs typeface="Nunito"/>
                          <a:sym typeface="Nunito"/>
                        </a:rPr>
                        <a:t>Costs</a:t>
                      </a:r>
                      <a:endParaRPr sz="18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3B2F3A"/>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ctr" rtl="0">
                        <a:spcBef>
                          <a:spcPts val="0"/>
                        </a:spcBef>
                        <a:spcAft>
                          <a:spcPts val="0"/>
                        </a:spcAft>
                        <a:buClr>
                          <a:schemeClr val="dk1"/>
                        </a:buClr>
                        <a:buSzPts val="1400"/>
                        <a:buFont typeface="Calibri"/>
                        <a:buNone/>
                      </a:pP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9F5"/>
                    </a:solidFill>
                  </a:tcPr>
                </a:tc>
                <a:extLst>
                  <a:ext uri="{0D108BD9-81ED-4DB2-BD59-A6C34878D82A}">
                    <a16:rowId xmlns:a16="http://schemas.microsoft.com/office/drawing/2014/main" val="10000"/>
                  </a:ext>
                </a:extLst>
              </a:tr>
              <a:tr h="914400">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100"/>
                        <a:buFont typeface="Nunito"/>
                        <a:buNone/>
                      </a:pPr>
                      <a:r>
                        <a:rPr lang="en-US" b="1" u="none" strike="noStrike" cap="none">
                          <a:solidFill>
                            <a:srgbClr val="3B2F3A"/>
                          </a:solidFill>
                          <a:latin typeface="Nunito"/>
                          <a:ea typeface="Nunito"/>
                          <a:cs typeface="Nunito"/>
                          <a:sym typeface="Nunito"/>
                        </a:rPr>
                        <a:t>Ads</a:t>
                      </a:r>
                      <a:endParaRPr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E6F0"/>
                    </a:solidFill>
                  </a:tcPr>
                </a:tc>
                <a:tc>
                  <a:txBody>
                    <a:bodyPr/>
                    <a:lstStyle/>
                    <a:p>
                      <a:pPr marL="0" marR="0" lvl="0" indent="0" algn="ctr" rtl="0">
                        <a:spcBef>
                          <a:spcPts val="0"/>
                        </a:spcBef>
                        <a:spcAft>
                          <a:spcPts val="0"/>
                        </a:spcAft>
                        <a:buClr>
                          <a:srgbClr val="3B2F3A"/>
                        </a:buClr>
                        <a:buSzPts val="1100"/>
                        <a:buFont typeface="Nunito"/>
                        <a:buNone/>
                      </a:pPr>
                      <a:r>
                        <a:rPr lang="en-US" sz="1300" b="1" u="none" strike="noStrike" cap="none">
                          <a:solidFill>
                            <a:srgbClr val="3B2F3A"/>
                          </a:solidFill>
                          <a:latin typeface="Nunito"/>
                          <a:ea typeface="Nunito"/>
                          <a:cs typeface="Nunito"/>
                          <a:sym typeface="Nunito"/>
                        </a:rPr>
                        <a:t>Subscriptions</a:t>
                      </a:r>
                      <a:endParaRPr sz="13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E6F0"/>
                    </a:solidFill>
                  </a:tcPr>
                </a:tc>
                <a:tc>
                  <a:txBody>
                    <a:bodyPr/>
                    <a:lstStyle/>
                    <a:p>
                      <a:pPr marL="0" marR="0" lvl="0" indent="0" algn="ctr" rtl="0">
                        <a:spcBef>
                          <a:spcPts val="0"/>
                        </a:spcBef>
                        <a:spcAft>
                          <a:spcPts val="0"/>
                        </a:spcAft>
                        <a:buClr>
                          <a:srgbClr val="3B2F3A"/>
                        </a:buClr>
                        <a:buSzPts val="1100"/>
                        <a:buFont typeface="Nunito"/>
                        <a:buNone/>
                      </a:pPr>
                      <a:r>
                        <a:rPr lang="en-US" b="1">
                          <a:solidFill>
                            <a:srgbClr val="3B2F3A"/>
                          </a:solidFill>
                          <a:latin typeface="Nunito"/>
                          <a:ea typeface="Nunito"/>
                          <a:cs typeface="Nunito"/>
                          <a:sym typeface="Nunito"/>
                        </a:rPr>
                        <a:t>TOTAL REVENUE</a:t>
                      </a:r>
                      <a:endParaRPr b="1"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E6F0"/>
                    </a:solidFill>
                  </a:tcPr>
                </a:tc>
                <a:tc>
                  <a:txBody>
                    <a:bodyPr/>
                    <a:lstStyle/>
                    <a:p>
                      <a:pPr marL="0" marR="0" lvl="0" indent="0" algn="ctr" rtl="0">
                        <a:spcBef>
                          <a:spcPts val="0"/>
                        </a:spcBef>
                        <a:spcAft>
                          <a:spcPts val="0"/>
                        </a:spcAft>
                        <a:buClr>
                          <a:srgbClr val="3B2F3A"/>
                        </a:buClr>
                        <a:buSzPts val="1100"/>
                        <a:buFont typeface="Nunito"/>
                        <a:buNone/>
                      </a:pPr>
                      <a:r>
                        <a:rPr lang="en-US" b="1" u="none" strike="noStrike" cap="none">
                          <a:solidFill>
                            <a:srgbClr val="3B2F3A"/>
                          </a:solidFill>
                          <a:latin typeface="Nunito"/>
                          <a:ea typeface="Nunito"/>
                          <a:cs typeface="Nunito"/>
                          <a:sym typeface="Nunito"/>
                        </a:rPr>
                        <a:t>App stores</a:t>
                      </a:r>
                      <a:endParaRPr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3C9"/>
                    </a:solidFill>
                  </a:tcPr>
                </a:tc>
                <a:tc>
                  <a:txBody>
                    <a:bodyPr/>
                    <a:lstStyle/>
                    <a:p>
                      <a:pPr marL="0" marR="0" lvl="0" indent="0" algn="ctr" rtl="0">
                        <a:spcBef>
                          <a:spcPts val="0"/>
                        </a:spcBef>
                        <a:spcAft>
                          <a:spcPts val="0"/>
                        </a:spcAft>
                        <a:buClr>
                          <a:srgbClr val="3B2F3A"/>
                        </a:buClr>
                        <a:buSzPts val="1100"/>
                        <a:buFont typeface="Nunito"/>
                        <a:buNone/>
                      </a:pPr>
                      <a:r>
                        <a:rPr lang="en-US" b="1" u="none" strike="noStrike" cap="none">
                          <a:solidFill>
                            <a:srgbClr val="3B2F3A"/>
                          </a:solidFill>
                          <a:latin typeface="Nunito"/>
                          <a:ea typeface="Nunito"/>
                          <a:cs typeface="Nunito"/>
                          <a:sym typeface="Nunito"/>
                        </a:rPr>
                        <a:t>Servers</a:t>
                      </a:r>
                      <a:endParaRPr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3C9"/>
                    </a:solidFill>
                  </a:tcPr>
                </a:tc>
                <a:tc>
                  <a:txBody>
                    <a:bodyPr/>
                    <a:lstStyle/>
                    <a:p>
                      <a:pPr marL="0" marR="0" lvl="0" indent="0" algn="ctr" rtl="0">
                        <a:spcBef>
                          <a:spcPts val="0"/>
                        </a:spcBef>
                        <a:spcAft>
                          <a:spcPts val="0"/>
                        </a:spcAft>
                        <a:buClr>
                          <a:srgbClr val="3B2F3A"/>
                        </a:buClr>
                        <a:buSzPts val="1100"/>
                        <a:buFont typeface="Nunito"/>
                        <a:buNone/>
                      </a:pPr>
                      <a:r>
                        <a:rPr lang="en-US" sz="1300" b="1" u="none" strike="noStrike" cap="none">
                          <a:solidFill>
                            <a:srgbClr val="3B2F3A"/>
                          </a:solidFill>
                          <a:latin typeface="Nunito"/>
                          <a:ea typeface="Nunito"/>
                          <a:cs typeface="Nunito"/>
                          <a:sym typeface="Nunito"/>
                        </a:rPr>
                        <a:t>AI computing</a:t>
                      </a:r>
                      <a:endParaRPr sz="13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3C9"/>
                    </a:solidFill>
                  </a:tcPr>
                </a:tc>
                <a:tc>
                  <a:txBody>
                    <a:bodyPr/>
                    <a:lstStyle/>
                    <a:p>
                      <a:pPr marL="0" marR="0" lvl="0" indent="0" algn="ctr" rtl="0">
                        <a:spcBef>
                          <a:spcPts val="0"/>
                        </a:spcBef>
                        <a:spcAft>
                          <a:spcPts val="0"/>
                        </a:spcAft>
                        <a:buClr>
                          <a:srgbClr val="3B2F3A"/>
                        </a:buClr>
                        <a:buSzPts val="1100"/>
                        <a:buFont typeface="Nunito"/>
                        <a:buNone/>
                      </a:pPr>
                      <a:r>
                        <a:rPr lang="en-US" b="1" u="none" strike="noStrike" cap="none">
                          <a:solidFill>
                            <a:srgbClr val="3B2F3A"/>
                          </a:solidFill>
                          <a:latin typeface="Nunito"/>
                          <a:ea typeface="Nunito"/>
                          <a:cs typeface="Nunito"/>
                          <a:sym typeface="Nunito"/>
                        </a:rPr>
                        <a:t>Storage and moderation</a:t>
                      </a:r>
                      <a:endParaRPr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3C9"/>
                    </a:solidFill>
                  </a:tcPr>
                </a:tc>
                <a:tc>
                  <a:txBody>
                    <a:bodyPr/>
                    <a:lstStyle/>
                    <a:p>
                      <a:pPr marL="0" marR="0" lvl="0" indent="0" algn="ctr" rtl="0">
                        <a:spcBef>
                          <a:spcPts val="0"/>
                        </a:spcBef>
                        <a:spcAft>
                          <a:spcPts val="0"/>
                        </a:spcAft>
                        <a:buClr>
                          <a:srgbClr val="3B2F3A"/>
                        </a:buClr>
                        <a:buSzPts val="1100"/>
                        <a:buFont typeface="Nunito"/>
                        <a:buNone/>
                      </a:pPr>
                      <a:r>
                        <a:rPr lang="en-US" b="1" u="none" strike="noStrike" cap="none">
                          <a:solidFill>
                            <a:srgbClr val="3B2F3A"/>
                          </a:solidFill>
                          <a:latin typeface="Nunito"/>
                          <a:ea typeface="Nunito"/>
                          <a:cs typeface="Nunito"/>
                          <a:sym typeface="Nunito"/>
                        </a:rPr>
                        <a:t>Marketing</a:t>
                      </a:r>
                      <a:endParaRPr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3C9"/>
                    </a:solidFill>
                  </a:tcPr>
                </a:tc>
                <a:tc>
                  <a:txBody>
                    <a:bodyPr/>
                    <a:lstStyle/>
                    <a:p>
                      <a:pPr marL="0" marR="0" lvl="0" indent="0" algn="ctr" rtl="0">
                        <a:spcBef>
                          <a:spcPts val="0"/>
                        </a:spcBef>
                        <a:spcAft>
                          <a:spcPts val="0"/>
                        </a:spcAft>
                        <a:buClr>
                          <a:srgbClr val="3B2F3A"/>
                        </a:buClr>
                        <a:buSzPts val="1100"/>
                        <a:buFont typeface="Nunito"/>
                        <a:buNone/>
                      </a:pPr>
                      <a:r>
                        <a:rPr lang="en-US" b="1" u="none" strike="noStrike" cap="none">
                          <a:solidFill>
                            <a:srgbClr val="3B2F3A"/>
                          </a:solidFill>
                          <a:latin typeface="Nunito"/>
                          <a:ea typeface="Nunito"/>
                          <a:cs typeface="Nunito"/>
                          <a:sym typeface="Nunito"/>
                        </a:rPr>
                        <a:t>Domain and tools</a:t>
                      </a:r>
                      <a:endParaRPr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3C9"/>
                    </a:solidFill>
                  </a:tcPr>
                </a:tc>
                <a:tc>
                  <a:txBody>
                    <a:bodyPr/>
                    <a:lstStyle/>
                    <a:p>
                      <a:pPr marL="0" marR="0" lvl="0" indent="0" algn="ctr" rtl="0">
                        <a:spcBef>
                          <a:spcPts val="0"/>
                        </a:spcBef>
                        <a:spcAft>
                          <a:spcPts val="0"/>
                        </a:spcAft>
                        <a:buClr>
                          <a:srgbClr val="3B2F3A"/>
                        </a:buClr>
                        <a:buSzPts val="1100"/>
                        <a:buFont typeface="Nunito"/>
                        <a:buNone/>
                      </a:pPr>
                      <a:r>
                        <a:rPr lang="en-US" b="1">
                          <a:solidFill>
                            <a:srgbClr val="3B2F3A"/>
                          </a:solidFill>
                          <a:latin typeface="Nunito"/>
                          <a:ea typeface="Nunito"/>
                          <a:cs typeface="Nunito"/>
                          <a:sym typeface="Nunito"/>
                        </a:rPr>
                        <a:t>TOTAL COSTS</a:t>
                      </a:r>
                      <a:endParaRPr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3C9"/>
                    </a:solidFill>
                  </a:tcPr>
                </a:tc>
                <a:tc>
                  <a:txBody>
                    <a:bodyPr/>
                    <a:lstStyle/>
                    <a:p>
                      <a:pPr marL="0" marR="0" lvl="0" indent="0" algn="ctr" rtl="0">
                        <a:spcBef>
                          <a:spcPts val="0"/>
                        </a:spcBef>
                        <a:spcAft>
                          <a:spcPts val="0"/>
                        </a:spcAft>
                        <a:buClr>
                          <a:srgbClr val="3B2F3A"/>
                        </a:buClr>
                        <a:buSzPts val="1100"/>
                        <a:buFont typeface="Nunito"/>
                        <a:buNone/>
                      </a:pPr>
                      <a:r>
                        <a:rPr lang="en-US" b="1">
                          <a:solidFill>
                            <a:srgbClr val="3B2F3A"/>
                          </a:solidFill>
                          <a:latin typeface="Nunito"/>
                          <a:ea typeface="Nunito"/>
                          <a:cs typeface="Nunito"/>
                          <a:sym typeface="Nunito"/>
                        </a:rPr>
                        <a:t>PROFIT</a:t>
                      </a:r>
                      <a:endParaRPr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DCF5EA"/>
                    </a:solidFill>
                  </a:tcPr>
                </a:tc>
                <a:extLst>
                  <a:ext uri="{0D108BD9-81ED-4DB2-BD59-A6C34878D82A}">
                    <a16:rowId xmlns:a16="http://schemas.microsoft.com/office/drawing/2014/main" val="10001"/>
                  </a:ext>
                </a:extLst>
              </a:tr>
              <a:tr h="868675">
                <a:tc>
                  <a:txBody>
                    <a:bodyPr/>
                    <a:lstStyle/>
                    <a:p>
                      <a:pPr marL="0" marR="0" lvl="0" indent="0" algn="ctr" rtl="0">
                        <a:spcBef>
                          <a:spcPts val="0"/>
                        </a:spcBef>
                        <a:spcAft>
                          <a:spcPts val="0"/>
                        </a:spcAft>
                        <a:buClr>
                          <a:srgbClr val="3B2F3A"/>
                        </a:buClr>
                        <a:buSzPts val="1400"/>
                        <a:buFont typeface="Nunito"/>
                        <a:buNone/>
                      </a:pPr>
                      <a:r>
                        <a:rPr lang="en-US" sz="1400" b="1" u="none" strike="noStrike" cap="none">
                          <a:solidFill>
                            <a:srgbClr val="3B2F3A"/>
                          </a:solidFill>
                          <a:latin typeface="Nunito"/>
                          <a:ea typeface="Nunito"/>
                          <a:cs typeface="Nunito"/>
                          <a:sym typeface="Nunito"/>
                        </a:rPr>
                        <a:t>Year 1</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$2,880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$3,050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b="1" u="none" strike="noStrike" cap="none">
                          <a:solidFill>
                            <a:srgbClr val="3B2F3A"/>
                          </a:solidFill>
                          <a:latin typeface="Nunito"/>
                          <a:ea typeface="Nunito"/>
                          <a:cs typeface="Nunito"/>
                          <a:sym typeface="Nunito"/>
                        </a:rPr>
                        <a:t>$5,930</a:t>
                      </a:r>
                      <a:endParaRPr sz="1400" b="1"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E6F0"/>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$125</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$600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$500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$100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$3,000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$300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b="1" u="none" strike="noStrike" cap="none">
                          <a:solidFill>
                            <a:srgbClr val="3B2F3A"/>
                          </a:solidFill>
                          <a:latin typeface="Nunito"/>
                          <a:ea typeface="Nunito"/>
                          <a:cs typeface="Nunito"/>
                          <a:sym typeface="Nunito"/>
                        </a:rPr>
                        <a:t>$4,625</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3C9"/>
                    </a:solidFill>
                  </a:tcPr>
                </a:tc>
                <a:tc>
                  <a:txBody>
                    <a:bodyPr/>
                    <a:lstStyle/>
                    <a:p>
                      <a:pPr marL="0" marR="0" lvl="0" indent="0" algn="ctr" rtl="0">
                        <a:spcBef>
                          <a:spcPts val="0"/>
                        </a:spcBef>
                        <a:spcAft>
                          <a:spcPts val="0"/>
                        </a:spcAft>
                        <a:buClr>
                          <a:srgbClr val="C93D7A"/>
                        </a:buClr>
                        <a:buSzPts val="1400"/>
                        <a:buFont typeface="Nunito"/>
                        <a:buNone/>
                      </a:pPr>
                      <a:r>
                        <a:rPr lang="en-US" sz="1400" b="1" u="none" strike="noStrike" cap="none">
                          <a:solidFill>
                            <a:srgbClr val="3B2F3A"/>
                          </a:solidFill>
                          <a:latin typeface="Nunito"/>
                          <a:ea typeface="Nunito"/>
                          <a:cs typeface="Nunito"/>
                          <a:sym typeface="Nunito"/>
                        </a:rPr>
                        <a:t>$1,305</a:t>
                      </a:r>
                      <a:endParaRPr sz="1400" u="none" strike="noStrike" cap="none">
                        <a:solidFill>
                          <a:srgbClr val="3B2F3A"/>
                        </a:solidFill>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DCF5EA"/>
                    </a:solidFill>
                  </a:tcPr>
                </a:tc>
                <a:extLst>
                  <a:ext uri="{0D108BD9-81ED-4DB2-BD59-A6C34878D82A}">
                    <a16:rowId xmlns:a16="http://schemas.microsoft.com/office/drawing/2014/main" val="10002"/>
                  </a:ext>
                </a:extLst>
              </a:tr>
              <a:tr h="868675">
                <a:tc>
                  <a:txBody>
                    <a:bodyPr/>
                    <a:lstStyle/>
                    <a:p>
                      <a:pPr marL="0" marR="0" lvl="0" indent="0" algn="ctr" rtl="0">
                        <a:spcBef>
                          <a:spcPts val="0"/>
                        </a:spcBef>
                        <a:spcAft>
                          <a:spcPts val="0"/>
                        </a:spcAft>
                        <a:buClr>
                          <a:srgbClr val="3B2F3A"/>
                        </a:buClr>
                        <a:buSzPts val="1400"/>
                        <a:buFont typeface="Nunito"/>
                        <a:buNone/>
                      </a:pPr>
                      <a:r>
                        <a:rPr lang="en-US" sz="1400" b="1" u="none" strike="noStrike" cap="none">
                          <a:solidFill>
                            <a:srgbClr val="3B2F3A"/>
                          </a:solidFill>
                          <a:latin typeface="Nunito"/>
                          <a:ea typeface="Nunito"/>
                          <a:cs typeface="Nunito"/>
                          <a:sym typeface="Nunito"/>
                        </a:rPr>
                        <a:t>Year 2</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$11,520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$12,199</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b="1" u="none" strike="noStrike" cap="none">
                          <a:solidFill>
                            <a:srgbClr val="3B2F3A"/>
                          </a:solidFill>
                          <a:latin typeface="Nunito"/>
                          <a:ea typeface="Nunito"/>
                          <a:cs typeface="Nunito"/>
                          <a:sym typeface="Nunito"/>
                        </a:rPr>
                        <a:t>$23,719</a:t>
                      </a:r>
                      <a:endParaRPr sz="1400" b="1"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E6F0"/>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$100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$1,800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$1,500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$200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$4,500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$300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b="1" u="none" strike="noStrike" cap="none">
                          <a:solidFill>
                            <a:srgbClr val="3B2F3A"/>
                          </a:solidFill>
                          <a:latin typeface="Nunito"/>
                          <a:ea typeface="Nunito"/>
                          <a:cs typeface="Nunito"/>
                          <a:sym typeface="Nunito"/>
                        </a:rPr>
                        <a:t>$8,400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3C9"/>
                    </a:solidFill>
                  </a:tcPr>
                </a:tc>
                <a:tc>
                  <a:txBody>
                    <a:bodyPr/>
                    <a:lstStyle/>
                    <a:p>
                      <a:pPr marL="0" marR="0" lvl="0" indent="0" algn="ctr" rtl="0">
                        <a:spcBef>
                          <a:spcPts val="0"/>
                        </a:spcBef>
                        <a:spcAft>
                          <a:spcPts val="0"/>
                        </a:spcAft>
                        <a:buClr>
                          <a:srgbClr val="C93D7A"/>
                        </a:buClr>
                        <a:buSzPts val="1400"/>
                        <a:buFont typeface="Nunito"/>
                        <a:buNone/>
                      </a:pPr>
                      <a:r>
                        <a:rPr lang="en-US" sz="1400" b="1" u="none" strike="noStrike" cap="none">
                          <a:solidFill>
                            <a:srgbClr val="3B2F3A"/>
                          </a:solidFill>
                          <a:latin typeface="Nunito"/>
                          <a:ea typeface="Nunito"/>
                          <a:cs typeface="Nunito"/>
                          <a:sym typeface="Nunito"/>
                        </a:rPr>
                        <a:t>$15,319</a:t>
                      </a:r>
                      <a:endParaRPr sz="1400" u="none" strike="noStrike" cap="none">
                        <a:solidFill>
                          <a:srgbClr val="3B2F3A"/>
                        </a:solidFill>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DCF5EA"/>
                    </a:solidFill>
                  </a:tcPr>
                </a:tc>
                <a:extLst>
                  <a:ext uri="{0D108BD9-81ED-4DB2-BD59-A6C34878D82A}">
                    <a16:rowId xmlns:a16="http://schemas.microsoft.com/office/drawing/2014/main" val="10003"/>
                  </a:ext>
                </a:extLst>
              </a:tr>
              <a:tr h="868675">
                <a:tc>
                  <a:txBody>
                    <a:bodyPr/>
                    <a:lstStyle/>
                    <a:p>
                      <a:pPr marL="0" marR="0" lvl="0" indent="0" algn="ctr" rtl="0">
                        <a:spcBef>
                          <a:spcPts val="0"/>
                        </a:spcBef>
                        <a:spcAft>
                          <a:spcPts val="0"/>
                        </a:spcAft>
                        <a:buClr>
                          <a:srgbClr val="3B2F3A"/>
                        </a:buClr>
                        <a:buSzPts val="1400"/>
                        <a:buFont typeface="Nunito"/>
                        <a:buNone/>
                      </a:pPr>
                      <a:r>
                        <a:rPr lang="en-US" sz="1400" b="1" u="none" strike="noStrike" cap="none">
                          <a:solidFill>
                            <a:srgbClr val="3B2F3A"/>
                          </a:solidFill>
                          <a:latin typeface="Nunito"/>
                          <a:ea typeface="Nunito"/>
                          <a:cs typeface="Nunito"/>
                          <a:sym typeface="Nunito"/>
                        </a:rPr>
                        <a:t>Year 3</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$28,800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$30,498</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b="1" u="none" strike="noStrike" cap="none">
                          <a:solidFill>
                            <a:srgbClr val="3B2F3A"/>
                          </a:solidFill>
                          <a:latin typeface="Nunito"/>
                          <a:ea typeface="Nunito"/>
                          <a:cs typeface="Nunito"/>
                          <a:sym typeface="Nunito"/>
                        </a:rPr>
                        <a:t>$59,298</a:t>
                      </a:r>
                      <a:endParaRPr sz="1400" b="1"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E6F0"/>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$100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$4,000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$3,500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$500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$3,000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u="none" strike="noStrike" cap="none">
                          <a:solidFill>
                            <a:srgbClr val="3B2F3A"/>
                          </a:solidFill>
                          <a:latin typeface="Nunito"/>
                          <a:ea typeface="Nunito"/>
                          <a:cs typeface="Nunito"/>
                          <a:sym typeface="Nunito"/>
                        </a:rPr>
                        <a:t>$300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3B2F3A"/>
                        </a:buClr>
                        <a:buSzPts val="1400"/>
                        <a:buFont typeface="Nunito"/>
                        <a:buNone/>
                      </a:pPr>
                      <a:r>
                        <a:rPr lang="en-US" sz="1400" b="1" u="none" strike="noStrike" cap="none">
                          <a:solidFill>
                            <a:srgbClr val="3B2F3A"/>
                          </a:solidFill>
                          <a:latin typeface="Nunito"/>
                          <a:ea typeface="Nunito"/>
                          <a:cs typeface="Nunito"/>
                          <a:sym typeface="Nunito"/>
                        </a:rPr>
                        <a:t>$11,400</a:t>
                      </a:r>
                      <a:endParaRPr sz="1400" u="none" strike="noStrike" cap="none">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FFF3C9"/>
                    </a:solidFill>
                  </a:tcPr>
                </a:tc>
                <a:tc>
                  <a:txBody>
                    <a:bodyPr/>
                    <a:lstStyle/>
                    <a:p>
                      <a:pPr marL="0" marR="0" lvl="0" indent="0" algn="ctr" rtl="0">
                        <a:spcBef>
                          <a:spcPts val="0"/>
                        </a:spcBef>
                        <a:spcAft>
                          <a:spcPts val="0"/>
                        </a:spcAft>
                        <a:buClr>
                          <a:srgbClr val="C93D7A"/>
                        </a:buClr>
                        <a:buSzPts val="1400"/>
                        <a:buFont typeface="Nunito"/>
                        <a:buNone/>
                      </a:pPr>
                      <a:r>
                        <a:rPr lang="en-US" sz="1400" b="1" u="none" strike="noStrike" cap="none">
                          <a:solidFill>
                            <a:srgbClr val="3B2F3A"/>
                          </a:solidFill>
                          <a:latin typeface="Nunito"/>
                          <a:ea typeface="Nunito"/>
                          <a:cs typeface="Nunito"/>
                          <a:sym typeface="Nunito"/>
                        </a:rPr>
                        <a:t>$47,898</a:t>
                      </a:r>
                      <a:endParaRPr sz="1400" u="none" strike="noStrike" cap="none">
                        <a:solidFill>
                          <a:srgbClr val="3B2F3A"/>
                        </a:solidFill>
                        <a:latin typeface="Nunito"/>
                        <a:ea typeface="Nunito"/>
                        <a:cs typeface="Nunito"/>
                        <a:sym typeface="Nunito"/>
                      </a:endParaRPr>
                    </a:p>
                  </a:txBody>
                  <a:tcPr marL="27425" marR="27425" marT="27425" marB="27425" anchor="ctr">
                    <a:lnL w="12700" cap="flat" cmpd="sng">
                      <a:solidFill>
                        <a:srgbClr val="F1E4EA"/>
                      </a:solidFill>
                      <a:prstDash val="solid"/>
                      <a:round/>
                      <a:headEnd type="none" w="sm" len="sm"/>
                      <a:tailEnd type="none" w="sm" len="sm"/>
                    </a:lnL>
                    <a:lnR w="12700" cap="flat" cmpd="sng">
                      <a:solidFill>
                        <a:srgbClr val="F1E4EA"/>
                      </a:solidFill>
                      <a:prstDash val="solid"/>
                      <a:round/>
                      <a:headEnd type="none" w="sm" len="sm"/>
                      <a:tailEnd type="none" w="sm" len="sm"/>
                    </a:lnR>
                    <a:lnT w="12700" cap="flat" cmpd="sng">
                      <a:solidFill>
                        <a:srgbClr val="F1E4EA"/>
                      </a:solidFill>
                      <a:prstDash val="solid"/>
                      <a:round/>
                      <a:headEnd type="none" w="sm" len="sm"/>
                      <a:tailEnd type="none" w="sm" len="sm"/>
                    </a:lnT>
                    <a:lnB w="12700" cap="flat" cmpd="sng">
                      <a:solidFill>
                        <a:srgbClr val="F1E4EA"/>
                      </a:solidFill>
                      <a:prstDash val="solid"/>
                      <a:round/>
                      <a:headEnd type="none" w="sm" len="sm"/>
                      <a:tailEnd type="none" w="sm" len="sm"/>
                    </a:lnB>
                    <a:solidFill>
                      <a:srgbClr val="DCF5E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Shape 140"/>
        <p:cNvGrpSpPr/>
        <p:nvPr/>
      </p:nvGrpSpPr>
      <p:grpSpPr>
        <a:xfrm>
          <a:off x="0" y="0"/>
          <a:ext cx="0" cy="0"/>
          <a:chOff x="0" y="0"/>
          <a:chExt cx="0" cy="0"/>
        </a:xfrm>
      </p:grpSpPr>
      <p:sp>
        <p:nvSpPr>
          <p:cNvPr id="141" name="Google Shape;141;p11"/>
          <p:cNvSpPr txBox="1"/>
          <p:nvPr/>
        </p:nvSpPr>
        <p:spPr>
          <a:xfrm>
            <a:off x="640080" y="457200"/>
            <a:ext cx="108813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3D7A"/>
              </a:buClr>
              <a:buSzPts val="4400"/>
              <a:buFont typeface="Fredoka"/>
              <a:buNone/>
            </a:pPr>
            <a:r>
              <a:rPr lang="en-US" sz="4400" b="1" i="0" u="none" strike="noStrike" cap="none">
                <a:solidFill>
                  <a:srgbClr val="C93D7A"/>
                </a:solidFill>
                <a:latin typeface="Fredoka"/>
                <a:ea typeface="Fredoka"/>
                <a:cs typeface="Fredoka"/>
                <a:sym typeface="Fredoka"/>
              </a:rPr>
              <a:t>Where we are and what we need</a:t>
            </a:r>
            <a:endParaRPr sz="4400" b="0" i="0" u="none" strike="noStrike" cap="none">
              <a:solidFill>
                <a:schemeClr val="dk1"/>
              </a:solidFill>
              <a:latin typeface="Calibri"/>
              <a:ea typeface="Calibri"/>
              <a:cs typeface="Calibri"/>
              <a:sym typeface="Calibri"/>
            </a:endParaRPr>
          </a:p>
        </p:txBody>
      </p:sp>
      <p:sp>
        <p:nvSpPr>
          <p:cNvPr id="142" name="Google Shape;142;p11"/>
          <p:cNvSpPr/>
          <p:nvPr/>
        </p:nvSpPr>
        <p:spPr>
          <a:xfrm>
            <a:off x="655168" y="1645920"/>
            <a:ext cx="2514600" cy="2468880"/>
          </a:xfrm>
          <a:prstGeom prst="roundRect">
            <a:avLst>
              <a:gd name="adj" fmla="val 9259"/>
            </a:avLst>
          </a:prstGeom>
          <a:solidFill>
            <a:srgbClr val="FFE6F0"/>
          </a:solidFill>
          <a:ln w="12700" cap="flat" cmpd="sng">
            <a:solidFill>
              <a:srgbClr val="FFE6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1"/>
          <p:cNvSpPr txBox="1"/>
          <p:nvPr/>
        </p:nvSpPr>
        <p:spPr>
          <a:xfrm>
            <a:off x="655168" y="1828800"/>
            <a:ext cx="251460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3400"/>
              <a:buFont typeface="Fredoka"/>
              <a:buNone/>
            </a:pPr>
            <a:r>
              <a:rPr lang="en-US" sz="3400" b="1" i="0" u="none" strike="noStrike" cap="none">
                <a:solidFill>
                  <a:srgbClr val="C93D7A"/>
                </a:solidFill>
                <a:latin typeface="Fredoka"/>
                <a:ea typeface="Fredoka"/>
                <a:cs typeface="Fredoka"/>
                <a:sym typeface="Fredoka"/>
              </a:rPr>
              <a:t>Now</a:t>
            </a:r>
            <a:endParaRPr sz="3400" b="0" i="0" u="none" strike="noStrike" cap="none">
              <a:solidFill>
                <a:schemeClr val="dk1"/>
              </a:solidFill>
              <a:latin typeface="Calibri"/>
              <a:ea typeface="Calibri"/>
              <a:cs typeface="Calibri"/>
              <a:sym typeface="Calibri"/>
            </a:endParaRPr>
          </a:p>
        </p:txBody>
      </p:sp>
      <p:sp>
        <p:nvSpPr>
          <p:cNvPr id="144" name="Google Shape;144;p11"/>
          <p:cNvSpPr txBox="1"/>
          <p:nvPr/>
        </p:nvSpPr>
        <p:spPr>
          <a:xfrm>
            <a:off x="838048" y="2560320"/>
            <a:ext cx="2148840" cy="13716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Prototype built</a:t>
            </a:r>
            <a:endParaRPr sz="3000" b="0" i="0" u="none" strike="noStrike" cap="none">
              <a:solidFill>
                <a:schemeClr val="dk1"/>
              </a:solidFill>
              <a:latin typeface="Calibri"/>
              <a:ea typeface="Calibri"/>
              <a:cs typeface="Calibri"/>
              <a:sym typeface="Calibri"/>
            </a:endParaRPr>
          </a:p>
        </p:txBody>
      </p:sp>
      <p:sp>
        <p:nvSpPr>
          <p:cNvPr id="145" name="Google Shape;145;p11"/>
          <p:cNvSpPr/>
          <p:nvPr/>
        </p:nvSpPr>
        <p:spPr>
          <a:xfrm>
            <a:off x="3444088" y="1645920"/>
            <a:ext cx="2514600" cy="2468880"/>
          </a:xfrm>
          <a:prstGeom prst="roundRect">
            <a:avLst>
              <a:gd name="adj" fmla="val 9259"/>
            </a:avLst>
          </a:prstGeom>
          <a:solidFill>
            <a:srgbClr val="FFF3C9"/>
          </a:solidFill>
          <a:ln w="12700" cap="flat" cmpd="sng">
            <a:solidFill>
              <a:srgbClr val="FFF3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txBox="1"/>
          <p:nvPr/>
        </p:nvSpPr>
        <p:spPr>
          <a:xfrm>
            <a:off x="3444088" y="1828800"/>
            <a:ext cx="251460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3400"/>
              <a:buFont typeface="Fredoka"/>
              <a:buNone/>
            </a:pPr>
            <a:r>
              <a:rPr lang="en-US" sz="3400" b="1" i="0" u="none" strike="noStrike" cap="none">
                <a:solidFill>
                  <a:srgbClr val="C93D7A"/>
                </a:solidFill>
                <a:latin typeface="Fredoka"/>
                <a:ea typeface="Fredoka"/>
                <a:cs typeface="Fredoka"/>
                <a:sym typeface="Fredoka"/>
              </a:rPr>
              <a:t>Month 1</a:t>
            </a:r>
            <a:endParaRPr sz="3400" b="0" i="0" u="none" strike="noStrike" cap="none">
              <a:solidFill>
                <a:schemeClr val="dk1"/>
              </a:solidFill>
              <a:latin typeface="Calibri"/>
              <a:ea typeface="Calibri"/>
              <a:cs typeface="Calibri"/>
              <a:sym typeface="Calibri"/>
            </a:endParaRPr>
          </a:p>
        </p:txBody>
      </p:sp>
      <p:sp>
        <p:nvSpPr>
          <p:cNvPr id="147" name="Google Shape;147;p11"/>
          <p:cNvSpPr txBox="1"/>
          <p:nvPr/>
        </p:nvSpPr>
        <p:spPr>
          <a:xfrm>
            <a:off x="3626968" y="2560320"/>
            <a:ext cx="2148840" cy="13716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String calculator live</a:t>
            </a:r>
            <a:endParaRPr sz="3000" b="0" i="0" u="none" strike="noStrike" cap="none">
              <a:solidFill>
                <a:schemeClr val="dk1"/>
              </a:solidFill>
              <a:latin typeface="Calibri"/>
              <a:ea typeface="Calibri"/>
              <a:cs typeface="Calibri"/>
              <a:sym typeface="Calibri"/>
            </a:endParaRPr>
          </a:p>
        </p:txBody>
      </p:sp>
      <p:sp>
        <p:nvSpPr>
          <p:cNvPr id="148" name="Google Shape;148;p11"/>
          <p:cNvSpPr/>
          <p:nvPr/>
        </p:nvSpPr>
        <p:spPr>
          <a:xfrm>
            <a:off x="6233008" y="1645920"/>
            <a:ext cx="2514600" cy="2468880"/>
          </a:xfrm>
          <a:prstGeom prst="roundRect">
            <a:avLst>
              <a:gd name="adj" fmla="val 9259"/>
            </a:avLst>
          </a:prstGeom>
          <a:solidFill>
            <a:srgbClr val="DCF5EA"/>
          </a:solidFill>
          <a:ln w="12700" cap="flat" cmpd="sng">
            <a:solidFill>
              <a:srgbClr val="DCF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1"/>
          <p:cNvSpPr txBox="1"/>
          <p:nvPr/>
        </p:nvSpPr>
        <p:spPr>
          <a:xfrm>
            <a:off x="6233008" y="1828800"/>
            <a:ext cx="251460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3400"/>
              <a:buFont typeface="Fredoka"/>
              <a:buNone/>
            </a:pPr>
            <a:r>
              <a:rPr lang="en-US" sz="3400" b="1" i="0" u="none" strike="noStrike" cap="none">
                <a:solidFill>
                  <a:srgbClr val="C93D7A"/>
                </a:solidFill>
                <a:latin typeface="Fredoka"/>
                <a:ea typeface="Fredoka"/>
                <a:cs typeface="Fredoka"/>
                <a:sym typeface="Fredoka"/>
              </a:rPr>
              <a:t>Month 3</a:t>
            </a:r>
            <a:endParaRPr sz="3400" b="0" i="0" u="none" strike="noStrike" cap="none">
              <a:solidFill>
                <a:schemeClr val="dk1"/>
              </a:solidFill>
              <a:latin typeface="Calibri"/>
              <a:ea typeface="Calibri"/>
              <a:cs typeface="Calibri"/>
              <a:sym typeface="Calibri"/>
            </a:endParaRPr>
          </a:p>
        </p:txBody>
      </p:sp>
      <p:sp>
        <p:nvSpPr>
          <p:cNvPr id="150" name="Google Shape;150;p11"/>
          <p:cNvSpPr txBox="1"/>
          <p:nvPr/>
        </p:nvSpPr>
        <p:spPr>
          <a:xfrm>
            <a:off x="6415888" y="2560320"/>
            <a:ext cx="2148840" cy="13716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Editor and sharing</a:t>
            </a:r>
            <a:endParaRPr sz="3000" b="0" i="0" u="none" strike="noStrike" cap="none">
              <a:solidFill>
                <a:schemeClr val="dk1"/>
              </a:solidFill>
              <a:latin typeface="Calibri"/>
              <a:ea typeface="Calibri"/>
              <a:cs typeface="Calibri"/>
              <a:sym typeface="Calibri"/>
            </a:endParaRPr>
          </a:p>
        </p:txBody>
      </p:sp>
      <p:sp>
        <p:nvSpPr>
          <p:cNvPr id="151" name="Google Shape;151;p11"/>
          <p:cNvSpPr/>
          <p:nvPr/>
        </p:nvSpPr>
        <p:spPr>
          <a:xfrm>
            <a:off x="9021928" y="1645920"/>
            <a:ext cx="2514600" cy="2468880"/>
          </a:xfrm>
          <a:prstGeom prst="roundRect">
            <a:avLst>
              <a:gd name="adj" fmla="val 9259"/>
            </a:avLst>
          </a:prstGeom>
          <a:solidFill>
            <a:srgbClr val="ECE6FF"/>
          </a:solidFill>
          <a:ln w="12700" cap="flat" cmpd="sng">
            <a:solidFill>
              <a:srgbClr val="ECE6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txBox="1"/>
          <p:nvPr/>
        </p:nvSpPr>
        <p:spPr>
          <a:xfrm>
            <a:off x="9021928" y="1828800"/>
            <a:ext cx="251460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3D7A"/>
              </a:buClr>
              <a:buSzPts val="3400"/>
              <a:buFont typeface="Fredoka"/>
              <a:buNone/>
            </a:pPr>
            <a:r>
              <a:rPr lang="en-US" sz="3400" b="1" i="0" u="none" strike="noStrike" cap="none">
                <a:solidFill>
                  <a:srgbClr val="C93D7A"/>
                </a:solidFill>
                <a:latin typeface="Fredoka"/>
                <a:ea typeface="Fredoka"/>
                <a:cs typeface="Fredoka"/>
                <a:sym typeface="Fredoka"/>
              </a:rPr>
              <a:t>Month 6</a:t>
            </a:r>
            <a:endParaRPr sz="3400" b="0" i="0" u="none" strike="noStrike" cap="none">
              <a:solidFill>
                <a:schemeClr val="dk1"/>
              </a:solidFill>
              <a:latin typeface="Calibri"/>
              <a:ea typeface="Calibri"/>
              <a:cs typeface="Calibri"/>
              <a:sym typeface="Calibri"/>
            </a:endParaRPr>
          </a:p>
        </p:txBody>
      </p:sp>
      <p:sp>
        <p:nvSpPr>
          <p:cNvPr id="153" name="Google Shape;153;p11"/>
          <p:cNvSpPr txBox="1"/>
          <p:nvPr/>
        </p:nvSpPr>
        <p:spPr>
          <a:xfrm>
            <a:off x="9204808" y="2560320"/>
            <a:ext cx="2148840" cy="13716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3B2F3A"/>
              </a:buClr>
              <a:buSzPts val="3000"/>
              <a:buFont typeface="Nunito"/>
              <a:buNone/>
            </a:pPr>
            <a:r>
              <a:rPr lang="en-US" sz="3000" b="0" i="0" u="none" strike="noStrike" cap="none">
                <a:solidFill>
                  <a:srgbClr val="3B2F3A"/>
                </a:solidFill>
                <a:latin typeface="Nunito"/>
                <a:ea typeface="Nunito"/>
                <a:cs typeface="Nunito"/>
                <a:sym typeface="Nunito"/>
              </a:rPr>
              <a:t>AI premium</a:t>
            </a:r>
            <a:endParaRPr sz="3000" b="0" i="0" u="none" strike="noStrike" cap="none">
              <a:solidFill>
                <a:schemeClr val="dk1"/>
              </a:solidFill>
              <a:latin typeface="Calibri"/>
              <a:ea typeface="Calibri"/>
              <a:cs typeface="Calibri"/>
              <a:sym typeface="Calibri"/>
            </a:endParaRPr>
          </a:p>
        </p:txBody>
      </p:sp>
      <p:sp>
        <p:nvSpPr>
          <p:cNvPr id="154" name="Google Shape;154;p11"/>
          <p:cNvSpPr/>
          <p:nvPr/>
        </p:nvSpPr>
        <p:spPr>
          <a:xfrm>
            <a:off x="2926080" y="4572000"/>
            <a:ext cx="6336792" cy="1280160"/>
          </a:xfrm>
          <a:prstGeom prst="roundRect">
            <a:avLst>
              <a:gd name="adj" fmla="val 17857"/>
            </a:avLst>
          </a:prstGeom>
          <a:solidFill>
            <a:srgbClr val="EC5F99"/>
          </a:solidFill>
          <a:ln w="12700" cap="flat" cmpd="sng">
            <a:solidFill>
              <a:srgbClr val="EC5F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1"/>
          <p:cNvSpPr txBox="1"/>
          <p:nvPr/>
        </p:nvSpPr>
        <p:spPr>
          <a:xfrm>
            <a:off x="2926080" y="4572000"/>
            <a:ext cx="6336792" cy="12801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4000"/>
              <a:buFont typeface="Fredoka"/>
              <a:buNone/>
            </a:pPr>
            <a:r>
              <a:rPr lang="en-US" sz="4000" b="1" i="0" u="none" strike="noStrike" cap="none">
                <a:solidFill>
                  <a:srgbClr val="FFFFFF"/>
                </a:solidFill>
                <a:latin typeface="Fredoka"/>
                <a:ea typeface="Fredoka"/>
                <a:cs typeface="Fredoka"/>
                <a:sym typeface="Fredoka"/>
              </a:rPr>
              <a:t>Our ask: $</a:t>
            </a:r>
            <a:r>
              <a:rPr lang="en-US" sz="4000" b="1">
                <a:solidFill>
                  <a:srgbClr val="FFFFFF"/>
                </a:solidFill>
                <a:latin typeface="Fredoka"/>
                <a:ea typeface="Fredoka"/>
                <a:cs typeface="Fredoka"/>
                <a:sym typeface="Fredoka"/>
              </a:rPr>
              <a:t>10,000</a:t>
            </a:r>
            <a:endParaRPr sz="40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1044</Words>
  <Application>Microsoft Macintosh PowerPoint</Application>
  <PresentationFormat>Widescreen</PresentationFormat>
  <Paragraphs>178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Nunito</vt:lpstr>
      <vt:lpstr>Fredoka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Alysha Kim</cp:lastModifiedBy>
  <cp:revision>2</cp:revision>
  <dcterms:created xsi:type="dcterms:W3CDTF">2026-10-04T16:10:12Z</dcterms:created>
  <dcterms:modified xsi:type="dcterms:W3CDTF">2026-10-15T19:26:34Z</dcterms:modified>
</cp:coreProperties>
</file>